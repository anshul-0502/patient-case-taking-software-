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565392"/>
            <a:ext cx="1175004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6019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SIH - Patient Case-Taking Software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lean_modern_futuristic_hospital_clinic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051560"/>
            <a:ext cx="5486400" cy="309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30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A8A8"/>
                </a:solidFill>
              </a:rPr>
              <a:t>SMART INDIA HACKATHON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B3558"/>
                </a:solidFill>
              </a:rPr>
              <a:t>Patient Case-Taking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B3558"/>
                </a:solidFill>
              </a:rPr>
              <a:t>Software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30352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25466"/>
                </a:solidFill>
              </a:rPr>
              <a:t>Visual Architecture &amp; Workflow Deck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30352" y="26517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25466"/>
                </a:solidFill>
              </a:rPr>
              <a:t>Problem Statement ID 26047  |  Ministry of Ayush  |  MedTech / HealthTech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0352" y="3401568"/>
            <a:ext cx="4846320" cy="1115568"/>
          </a:xfrm>
          <a:prstGeom prst="roundRect">
            <a:avLst>
              <a:gd name="adj" fmla="val 7377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principle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collects and structures clinical history; the doctor stays in control of diagnosis and treatment.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0352" y="4892040"/>
            <a:ext cx="1325880" cy="256032"/>
          </a:xfrm>
          <a:prstGeom prst="roundRect">
            <a:avLst/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VOICE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011680" y="4892040"/>
            <a:ext cx="1325880" cy="256032"/>
          </a:xfrm>
          <a:prstGeom prst="roundRect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OCR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93008" y="4892040"/>
            <a:ext cx="1325880" cy="256032"/>
          </a:xfrm>
          <a:prstGeom prst="roundRect">
            <a:avLst/>
          </a:prstGeom>
          <a:solidFill>
            <a:srgbClr val="7257D5"/>
          </a:solidFill>
          <a:ln>
            <a:solidFill>
              <a:srgbClr val="7257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0352" y="5532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558"/>
                </a:solidFill>
              </a:rPr>
              <a:t>From patient narration to physician-ready case history.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overview: why this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4F2"/>
          </a:solidFill>
          <a:ln w="12700">
            <a:solidFill>
              <a:srgbClr val="F7C7C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34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34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Busy OPDs lose time in repetitive history-taking before the doctor sees the patient.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315968" y="1005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voice-led clinical intake layer that structures history and supporting documents.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083296" y="10058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E8F7EF"/>
          </a:solidFill>
          <a:ln w="12700">
            <a:solidFill>
              <a:srgbClr val="BDEB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physician-readable report before consultation begins.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87368" y="1609344"/>
            <a:ext cx="182880" cy="0"/>
          </a:xfrm>
          <a:prstGeom prst="line">
            <a:avLst/>
          </a:prstGeom>
          <a:noFill/>
          <a:ln w="2540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63840" y="1609344"/>
            <a:ext cx="182880" cy="0"/>
          </a:xfrm>
          <a:prstGeom prst="line">
            <a:avLst/>
          </a:prstGeom>
          <a:noFill/>
          <a:ln w="2540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1792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558"/>
                </a:solidFill>
              </a:rPr>
              <a:t>Core goals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429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manual history bottleneck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physician consultation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0" y="3063240"/>
            <a:ext cx="3429000" cy="749808"/>
          </a:xfrm>
          <a:prstGeom prst="roundRect">
            <a:avLst>
              <a:gd name="adj" fmla="val 10976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complaints by voice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adaptive follow-up questions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321040" y="3063240"/>
            <a:ext cx="3429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Digitize previous documents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prescriptions, lab reports, summaries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114800"/>
            <a:ext cx="3429000" cy="749808"/>
          </a:xfrm>
          <a:prstGeom prst="roundRect">
            <a:avLst>
              <a:gd name="adj" fmla="val 10976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report history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view, download, print, share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4114800"/>
            <a:ext cx="3429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Hindi and English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for first-time users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1040" y="4114800"/>
            <a:ext cx="3429000" cy="749808"/>
          </a:xfrm>
          <a:prstGeom prst="roundRect">
            <a:avLst>
              <a:gd name="adj" fmla="val 10976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admin operations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hospital CRUD portal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9-module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 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43584"/>
            <a:ext cx="438912" cy="438912"/>
          </a:xfrm>
          <a:prstGeom prst="ellipse">
            <a:avLst/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Registration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intake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43984" y="1243584"/>
            <a:ext cx="438912" cy="438912"/>
          </a:xfrm>
          <a:prstGeom prst="ellipse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10912" y="1078992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Consultation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Voice-led case taking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66176" y="1243584"/>
            <a:ext cx="438912" cy="438912"/>
          </a:xfrm>
          <a:prstGeom prst="ellipse">
            <a:avLst/>
          </a:prstGeom>
          <a:solidFill>
            <a:srgbClr val="7257D5"/>
          </a:solidFill>
          <a:ln>
            <a:solidFill>
              <a:srgbClr val="7257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33104" y="1078992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Report History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reports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596896"/>
            <a:ext cx="438912" cy="43891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432304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Center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updates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43984" y="2596896"/>
            <a:ext cx="438912" cy="438912"/>
          </a:xfrm>
          <a:prstGeom prst="ellipse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2432304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&amp; Settings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2596896"/>
            <a:ext cx="438912" cy="438912"/>
          </a:xfrm>
          <a:prstGeom prst="ellipse">
            <a:avLst/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33104" y="2432304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Hindi / English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" y="3950208"/>
            <a:ext cx="438912" cy="438912"/>
          </a:xfrm>
          <a:prstGeom prst="ellipse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785616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&amp; Support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43984" y="3950208"/>
            <a:ext cx="438912" cy="438912"/>
          </a:xfrm>
          <a:prstGeom prst="ellipse">
            <a:avLst/>
          </a:prstGeom>
          <a:solidFill>
            <a:srgbClr val="7257D5"/>
          </a:solidFill>
          <a:ln>
            <a:solidFill>
              <a:srgbClr val="7257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10912" y="3785616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Services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services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66176" y="3950208"/>
            <a:ext cx="438912" cy="43891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33104" y="3785616"/>
            <a:ext cx="292608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4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Portal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CRUD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68880" y="5074920"/>
            <a:ext cx="7223760" cy="804672"/>
          </a:xfrm>
          <a:prstGeom prst="roundRect">
            <a:avLst>
              <a:gd name="adj" fmla="val 10227"/>
            </a:avLst>
          </a:prstGeom>
          <a:solidFill>
            <a:srgbClr val="E8FBF8"/>
          </a:solidFill>
          <a:ln w="12700">
            <a:solidFill>
              <a:srgbClr val="B6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rule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3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Patient-facing modules connect through backend services; Hospital Admin Portal remains separate and role-protected.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patient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Workflow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12984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CD7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Access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enters platform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828800" y="1892808"/>
            <a:ext cx="118872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965960" y="1417320"/>
            <a:ext cx="1298448" cy="960120"/>
          </a:xfrm>
          <a:prstGeom prst="roundRect">
            <a:avLst>
              <a:gd name="adj" fmla="val 8571"/>
            </a:avLst>
          </a:prstGeom>
          <a:solidFill>
            <a:srgbClr val="E8F5FF"/>
          </a:solidFill>
          <a:ln w="12700">
            <a:solidFill>
              <a:srgbClr val="BCD7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profile captured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892808"/>
            <a:ext cx="118872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429000" y="1417320"/>
            <a:ext cx="12984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CD7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Consultation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Voice-led history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892808"/>
            <a:ext cx="118872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92040" y="1417320"/>
            <a:ext cx="1298448" cy="960120"/>
          </a:xfrm>
          <a:prstGeom prst="roundRect">
            <a:avLst>
              <a:gd name="adj" fmla="val 8571"/>
            </a:avLst>
          </a:prstGeom>
          <a:solidFill>
            <a:srgbClr val="E8F5FF"/>
          </a:solidFill>
          <a:ln w="12700">
            <a:solidFill>
              <a:srgbClr val="BCD7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Upload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OCR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892808"/>
            <a:ext cx="118872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355080" y="1417320"/>
            <a:ext cx="12984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CD7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Report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/ edit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80960" y="1892808"/>
            <a:ext cx="118872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818120" y="1417320"/>
            <a:ext cx="1298448" cy="960120"/>
          </a:xfrm>
          <a:prstGeom prst="roundRect">
            <a:avLst>
              <a:gd name="adj" fmla="val 8571"/>
            </a:avLst>
          </a:prstGeom>
          <a:solidFill>
            <a:srgbClr val="E8F5FF"/>
          </a:solidFill>
          <a:ln w="12700">
            <a:solidFill>
              <a:srgbClr val="BCD7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PDF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0" y="1892808"/>
            <a:ext cx="118872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281160" y="1417320"/>
            <a:ext cx="1298448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BCD7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reports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607040" y="1892808"/>
            <a:ext cx="118872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744200" y="1417320"/>
            <a:ext cx="1298448" cy="960120"/>
          </a:xfrm>
          <a:prstGeom prst="roundRect">
            <a:avLst>
              <a:gd name="adj" fmla="val 8571"/>
            </a:avLst>
          </a:prstGeom>
          <a:solidFill>
            <a:srgbClr val="E8F5FF"/>
          </a:solidFill>
          <a:ln w="12700">
            <a:solidFill>
              <a:srgbClr val="BCD7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access</a:t>
            </a:r>
            <a:endParaRPr lang="en-US" sz="950" dirty="0"/>
          </a:p>
        </p:txBody>
      </p:sp>
      <p:pic>
        <p:nvPicPr>
          <p:cNvPr id="20" name="Image 0" descr="/mnt/data/wide_clean_infographic_style_illustration_on_a_w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834640"/>
            <a:ext cx="5303520" cy="298094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46520" y="2971800"/>
            <a:ext cx="5166360" cy="786384"/>
          </a:xfrm>
          <a:prstGeom prst="roundRect">
            <a:avLst>
              <a:gd name="adj" fmla="val 10465"/>
            </a:avLst>
          </a:prstGeom>
          <a:solidFill>
            <a:srgbClr val="FFF4DE"/>
          </a:solidFill>
          <a:ln w="12700">
            <a:solidFill>
              <a:srgbClr val="F8D9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Patient-friendly path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patient can still access hospital services directly; emergency access is never blocked by AI consultation.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46520" y="3977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89720" y="3977640"/>
            <a:ext cx="2395728" cy="1234440"/>
          </a:xfrm>
          <a:prstGeom prst="roundRect">
            <a:avLst>
              <a:gd name="adj" fmla="val 6667"/>
            </a:avLst>
          </a:prstGeom>
          <a:solidFill>
            <a:srgbClr val="E8F7EF"/>
          </a:solidFill>
          <a:ln w="12700">
            <a:solidFill>
              <a:srgbClr val="BDEB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does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924544" y="4590288"/>
            <a:ext cx="201168" cy="0"/>
          </a:xfrm>
          <a:prstGeom prst="line">
            <a:avLst/>
          </a:prstGeom>
          <a:noFill/>
          <a:ln w="2540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pic>
        <p:nvPicPr>
          <p:cNvPr id="5" name="Image 0" descr="/mnt/data/wide_clean_vector_flat_soft_gradient_info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51560"/>
            <a:ext cx="4937760" cy="2779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051560"/>
            <a:ext cx="49377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layer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+ authorized staff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063240" y="1554480"/>
            <a:ext cx="0" cy="173736"/>
          </a:xfrm>
          <a:prstGeom prst="line">
            <a:avLst/>
          </a:prstGeom>
          <a:noFill/>
          <a:ln w="1651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594360" y="1764792"/>
            <a:ext cx="4937760" cy="493776"/>
          </a:xfrm>
          <a:prstGeom prst="roundRect">
            <a:avLst>
              <a:gd name="adj" fmla="val 16667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layer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website + admin portal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63240" y="2267712"/>
            <a:ext cx="0" cy="173736"/>
          </a:xfrm>
          <a:prstGeom prst="line">
            <a:avLst/>
          </a:prstGeom>
          <a:noFill/>
          <a:ln w="1651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594360" y="2478024"/>
            <a:ext cx="49377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layer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Auth + RBAC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063240" y="2980944"/>
            <a:ext cx="0" cy="173736"/>
          </a:xfrm>
          <a:prstGeom prst="line">
            <a:avLst/>
          </a:prstGeom>
          <a:noFill/>
          <a:ln w="1651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94360" y="3191256"/>
            <a:ext cx="4937760" cy="493776"/>
          </a:xfrm>
          <a:prstGeom prst="roundRect">
            <a:avLst>
              <a:gd name="adj" fmla="val 16667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API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services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63240" y="3694176"/>
            <a:ext cx="0" cy="173736"/>
          </a:xfrm>
          <a:prstGeom prst="line">
            <a:avLst/>
          </a:prstGeom>
          <a:noFill/>
          <a:ln w="1651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594360" y="3904488"/>
            <a:ext cx="49377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OCR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STT, LLM, OCR, PDF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063240" y="4407408"/>
            <a:ext cx="0" cy="173736"/>
          </a:xfrm>
          <a:prstGeom prst="line">
            <a:avLst/>
          </a:prstGeom>
          <a:noFill/>
          <a:ln w="1651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594360" y="4617720"/>
            <a:ext cx="4937760" cy="493776"/>
          </a:xfrm>
          <a:prstGeom prst="roundRect">
            <a:avLst>
              <a:gd name="adj" fmla="val 16667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layer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+ secure storage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0" y="4572000"/>
            <a:ext cx="5833872" cy="868680"/>
          </a:xfrm>
          <a:prstGeom prst="roundRect">
            <a:avLst>
              <a:gd name="adj" fmla="val 9474"/>
            </a:avLst>
          </a:prstGeom>
          <a:solidFill>
            <a:srgbClr val="F0EDFF"/>
          </a:solidFill>
          <a:ln w="12700">
            <a:solidFill>
              <a:srgbClr val="D5CD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2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integration pattern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72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feature talks through protected backend services, not direct uncontrolled client-side access.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669280" y="5623560"/>
            <a:ext cx="2761488" cy="502920"/>
          </a:xfrm>
          <a:prstGeom prst="roundRect">
            <a:avLst>
              <a:gd name="adj" fmla="val 16364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app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Modules 1-8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732520" y="5623560"/>
            <a:ext cx="2761488" cy="502920"/>
          </a:xfrm>
          <a:prstGeom prst="roundRect">
            <a:avLst>
              <a:gd name="adj" fmla="val 16364"/>
            </a:avLst>
          </a:prstGeom>
          <a:solidFill>
            <a:srgbClr val="FFF4DE"/>
          </a:solidFill>
          <a:ln w="12700">
            <a:solidFill>
              <a:srgbClr val="F8D9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portal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1: Patient Registration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Foundation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pic>
        <p:nvPicPr>
          <p:cNvPr id="5" name="Image 0" descr="/mnt/data/a_clean_modern_high_resolution_composite_ui_de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960120"/>
            <a:ext cx="4983480" cy="2807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987552"/>
            <a:ext cx="5440680" cy="841248"/>
          </a:xfrm>
          <a:prstGeom prst="roundRect">
            <a:avLst>
              <a:gd name="adj" fmla="val 9783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only essential demographic and baseline information so onboarding stays simple.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94360" y="2148840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Approved fields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Name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77440" y="2560320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60520" y="2560320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3081528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377440" y="3081528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60520" y="3081528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3602736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Blood Group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77440" y="3602736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60520" y="3602736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4360" y="4123944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Diseases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377440" y="4123944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option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160520" y="4123944"/>
            <a:ext cx="1572768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4360" y="4864608"/>
            <a:ext cx="25146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fields, email/mobile format, duplicate profile prevention.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3337560" y="4864608"/>
            <a:ext cx="2697480" cy="731520"/>
          </a:xfrm>
          <a:prstGeom prst="roundRect">
            <a:avLst>
              <a:gd name="adj" fmla="val 11250"/>
            </a:avLst>
          </a:prstGeom>
          <a:solidFill>
            <a:srgbClr val="E8F7EF"/>
          </a:solidFill>
          <a:ln w="12700">
            <a:solidFill>
              <a:srgbClr val="BDEB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patient profile available to AI, Services and Profile modules.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2: AI Consultation deep dive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Core AI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pic>
        <p:nvPicPr>
          <p:cNvPr id="5" name="Image 0" descr="/mnt/data/wide_clean_infographic_style_illustration_on_a_w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4526280" cy="2542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987552"/>
            <a:ext cx="384048" cy="384048"/>
          </a:xfrm>
          <a:prstGeom prst="ellipse">
            <a:avLst/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03720" y="950976"/>
            <a:ext cx="42976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+ language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92824" y="1371600"/>
            <a:ext cx="0" cy="274320"/>
          </a:xfrm>
          <a:prstGeom prst="line">
            <a:avLst/>
          </a:prstGeom>
          <a:noFill/>
          <a:ln w="1524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6400800" y="1700784"/>
            <a:ext cx="384048" cy="384048"/>
          </a:xfrm>
          <a:prstGeom prst="ellipse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03720" y="1664208"/>
            <a:ext cx="42976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chief complaint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92824" y="2084832"/>
            <a:ext cx="0" cy="274320"/>
          </a:xfrm>
          <a:prstGeom prst="line">
            <a:avLst/>
          </a:prstGeom>
          <a:noFill/>
          <a:ln w="1524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6400800" y="2414016"/>
            <a:ext cx="384048" cy="384048"/>
          </a:xfrm>
          <a:prstGeom prst="ellipse">
            <a:avLst/>
          </a:prstGeom>
          <a:solidFill>
            <a:srgbClr val="7257D5"/>
          </a:solidFill>
          <a:ln>
            <a:solidFill>
              <a:srgbClr val="7257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03720" y="2377440"/>
            <a:ext cx="42976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follow-up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92824" y="2798064"/>
            <a:ext cx="0" cy="274320"/>
          </a:xfrm>
          <a:prstGeom prst="line">
            <a:avLst/>
          </a:prstGeom>
          <a:noFill/>
          <a:ln w="1524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6400800" y="3127248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03720" y="3090672"/>
            <a:ext cx="42976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report upload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92824" y="3511296"/>
            <a:ext cx="0" cy="274320"/>
          </a:xfrm>
          <a:prstGeom prst="line">
            <a:avLst/>
          </a:prstGeom>
          <a:noFill/>
          <a:ln w="1524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18" name="Text 15"/>
          <p:cNvSpPr/>
          <p:nvPr/>
        </p:nvSpPr>
        <p:spPr>
          <a:xfrm>
            <a:off x="6400800" y="3840480"/>
            <a:ext cx="384048" cy="384048"/>
          </a:xfrm>
          <a:prstGeom prst="ellipse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03720" y="3803904"/>
            <a:ext cx="42976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report review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92824" y="4224528"/>
            <a:ext cx="0" cy="274320"/>
          </a:xfrm>
          <a:prstGeom prst="line">
            <a:avLst/>
          </a:prstGeom>
          <a:noFill/>
          <a:ln w="15240">
            <a:solidFill>
              <a:srgbClr val="1172D2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6400800" y="4553712"/>
            <a:ext cx="384048" cy="384048"/>
          </a:xfrm>
          <a:prstGeom prst="ellipse">
            <a:avLst/>
          </a:prstGeom>
          <a:solidFill>
            <a:srgbClr val="E34B4B"/>
          </a:solidFill>
          <a:ln>
            <a:solidFill>
              <a:srgbClr val="E34B4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903720" y="4517136"/>
            <a:ext cx="4297680" cy="438912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+ PDF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7240" y="384048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assistant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STT captures Hindi/English narration and builds context.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611880" y="384048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E8FBF8"/>
          </a:solidFill>
          <a:ln w="12700">
            <a:solidFill>
              <a:srgbClr val="B6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intelligence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3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reads previous prescriptions, lab reports and summaries.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46520" y="5257800"/>
            <a:ext cx="4800600" cy="640080"/>
          </a:xfrm>
          <a:prstGeom prst="roundRect">
            <a:avLst>
              <a:gd name="adj" fmla="val 12857"/>
            </a:avLst>
          </a:prstGeom>
          <a:solidFill>
            <a:srgbClr val="FFF4DE"/>
          </a:solidFill>
          <a:ln w="12700">
            <a:solidFill>
              <a:srgbClr val="F8D9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prepares a clinical-history draft. Final diagnosis and prescription stay with the physician.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documents to physician-ready report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flow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57400"/>
            <a:ext cx="1536192" cy="960120"/>
          </a:xfrm>
          <a:prstGeom prst="roundRect">
            <a:avLst>
              <a:gd name="adj" fmla="val 8571"/>
            </a:avLst>
          </a:prstGeom>
          <a:solidFill>
            <a:srgbClr val="E8F5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voice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Narration + answers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02536" y="2542032"/>
            <a:ext cx="292608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359152" y="2057400"/>
            <a:ext cx="1536192" cy="960120"/>
          </a:xfrm>
          <a:prstGeom prst="roundRect">
            <a:avLst>
              <a:gd name="adj" fmla="val 8571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reports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Prescription / lab / discharge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04488" y="2542032"/>
            <a:ext cx="292608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61104" y="2057400"/>
            <a:ext cx="1536192" cy="960120"/>
          </a:xfrm>
          <a:prstGeom prst="roundRect">
            <a:avLst>
              <a:gd name="adj" fmla="val 8571"/>
            </a:avLst>
          </a:prstGeom>
          <a:solidFill>
            <a:srgbClr val="F0ED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STT + OCR + extraction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06440" y="2542032"/>
            <a:ext cx="292608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63056" y="2057400"/>
            <a:ext cx="1536192" cy="960120"/>
          </a:xfrm>
          <a:prstGeom prst="roundRect">
            <a:avLst>
              <a:gd name="adj" fmla="val 8571"/>
            </a:avLst>
          </a:prstGeom>
          <a:solidFill>
            <a:srgbClr val="FFF4DE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report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+ summary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08392" y="2542032"/>
            <a:ext cx="292608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065008" y="2057400"/>
            <a:ext cx="1536192" cy="960120"/>
          </a:xfrm>
          <a:prstGeom prst="roundRect">
            <a:avLst>
              <a:gd name="adj" fmla="val 8571"/>
            </a:avLst>
          </a:prstGeom>
          <a:solidFill>
            <a:srgbClr val="E8F7E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confirm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/ edit / lock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10344" y="2542032"/>
            <a:ext cx="292608" cy="0"/>
          </a:xfrm>
          <a:prstGeom prst="line">
            <a:avLst/>
          </a:prstGeom>
          <a:noFill/>
          <a:ln w="1905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966960" y="2057400"/>
            <a:ext cx="15361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use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Physician reads report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1143000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 sections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703320"/>
            <a:ext cx="245059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details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703320"/>
            <a:ext cx="245059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Chief complaint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703320"/>
            <a:ext cx="245059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of present illness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3703320"/>
            <a:ext cx="245059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history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4315968"/>
            <a:ext cx="245059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Medicines taken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315968"/>
            <a:ext cx="245059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document info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4315968"/>
            <a:ext cx="245059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summary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23960" y="4315968"/>
            <a:ext cx="2450592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5230368"/>
            <a:ext cx="11018520" cy="621792"/>
          </a:xfrm>
          <a:prstGeom prst="roundRect">
            <a:avLst>
              <a:gd name="adj" fmla="val 13235"/>
            </a:avLst>
          </a:prstGeom>
          <a:solidFill>
            <a:srgbClr val="FFF4DE"/>
          </a:solidFill>
          <a:ln w="12700">
            <a:solidFill>
              <a:srgbClr val="F8D9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note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is a structured patient-history document, not a final medical diagnosis.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Modules 3 &amp; 4: reports and timely updates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 continuity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pic>
        <p:nvPicPr>
          <p:cNvPr id="5" name="Image 0" descr="/mnt/data/a_clean_flat_modern_ui_ux_mockup_composite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60120"/>
            <a:ext cx="4572000" cy="2569464"/>
          </a:xfrm>
          <a:prstGeom prst="rect">
            <a:avLst/>
          </a:prstGeom>
        </p:spPr>
      </p:pic>
      <p:pic>
        <p:nvPicPr>
          <p:cNvPr id="6" name="Image 1" descr="/mnt/data/medical_notification_centre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4572000" cy="25694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393192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3 - My Report History</a:t>
            </a:r>
            <a:endParaRPr lang="en-US" sz="1170" dirty="0"/>
          </a:p>
          <a:p>
            <a:pPr indent="0" marL="0">
              <a:buNone/>
            </a:pPr>
            <a:r>
              <a:rPr lang="en-US" sz="117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View, review, download, print, share, search and filter finalized reports. Patient-side delete is not provided for formal records.</a:t>
            </a:r>
            <a:endParaRPr lang="en-US" sz="1170" dirty="0"/>
          </a:p>
        </p:txBody>
      </p:sp>
      <p:sp>
        <p:nvSpPr>
          <p:cNvPr id="8" name="Text 4"/>
          <p:cNvSpPr/>
          <p:nvPr/>
        </p:nvSpPr>
        <p:spPr>
          <a:xfrm>
            <a:off x="6400800" y="3931920"/>
            <a:ext cx="5166360" cy="1097280"/>
          </a:xfrm>
          <a:prstGeom prst="roundRect">
            <a:avLst>
              <a:gd name="adj" fmla="val 7500"/>
            </a:avLst>
          </a:prstGeom>
          <a:solidFill>
            <a:srgbClr val="E8FBF8"/>
          </a:solidFill>
          <a:ln w="12700">
            <a:solidFill>
              <a:srgbClr val="B6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13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4 - Notification Center</a:t>
            </a:r>
            <a:endParaRPr lang="en-US" sz="1170" dirty="0"/>
          </a:p>
          <a:p>
            <a:pPr indent="0" marL="0">
              <a:buNone/>
            </a:pPr>
            <a:r>
              <a:rPr lang="en-US" sz="1170" b="1" dirty="0">
                <a:solidFill>
                  <a:srgbClr val="13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 updates, medicine reminders, report alerts and hospital announcements are delivered as patient-specific notifications.</a:t>
            </a:r>
            <a:endParaRPr lang="en-US" sz="1170" dirty="0"/>
          </a:p>
        </p:txBody>
      </p:sp>
      <p:sp>
        <p:nvSpPr>
          <p:cNvPr id="9" name="Shape 5"/>
          <p:cNvSpPr/>
          <p:nvPr/>
        </p:nvSpPr>
        <p:spPr>
          <a:xfrm>
            <a:off x="5870448" y="4480560"/>
            <a:ext cx="457200" cy="0"/>
          </a:xfrm>
          <a:prstGeom prst="line">
            <a:avLst/>
          </a:prstGeom>
          <a:noFill/>
          <a:ln w="25400">
            <a:solidFill>
              <a:srgbClr val="7257D5"/>
            </a:solidFill>
            <a:prstDash val="solid"/>
            <a:tailEnd type="triangle"/>
          </a:ln>
        </p:spPr>
      </p:sp>
      <p:sp>
        <p:nvSpPr>
          <p:cNvPr id="10" name="Text 6"/>
          <p:cNvSpPr/>
          <p:nvPr/>
        </p:nvSpPr>
        <p:spPr>
          <a:xfrm>
            <a:off x="3337560" y="5440680"/>
            <a:ext cx="6126480" cy="548640"/>
          </a:xfrm>
          <a:prstGeom prst="roundRect">
            <a:avLst>
              <a:gd name="adj" fmla="val 15000"/>
            </a:avLst>
          </a:prstGeom>
          <a:solidFill>
            <a:srgbClr val="D5CDF6"/>
          </a:solidFill>
          <a:ln w="12700">
            <a:solidFill>
              <a:srgbClr val="7257D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workflow: Report generated -&gt; Stored in history -&gt; Patient notified -&gt; Patient opens the report securely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F0EDFF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Modules 5, 6 &amp; 7: personalization and support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Experience layer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pic>
        <p:nvPicPr>
          <p:cNvPr id="5" name="Image 0" descr="/mnt/data/a_clean_infographic_diagram_image_in_a_flat_mod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05840"/>
            <a:ext cx="4754880" cy="2679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05156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5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&amp; Settings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data, photo, privacy, permissions and notification preferences.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594360" y="246888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E8FBF8"/>
          </a:solidFill>
          <a:ln w="12700">
            <a:solidFill>
              <a:srgbClr val="B6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6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Hindi/English UI, voice language, speech-to-text and saved preference.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594360" y="388620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F0EDFF"/>
          </a:solidFill>
          <a:ln w="12700">
            <a:solidFill>
              <a:srgbClr val="D5CD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7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&amp; Support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guide, FAQ, contact support, feedback, issue reports and tutorials.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68680" y="5486400"/>
            <a:ext cx="10424160" cy="530352"/>
          </a:xfrm>
          <a:prstGeom prst="roundRect">
            <a:avLst>
              <a:gd name="adj" fmla="val 15517"/>
            </a:avLst>
          </a:prstGeom>
          <a:solidFill>
            <a:srgbClr val="BDEBD0"/>
          </a:solidFill>
          <a:ln w="12700">
            <a:solidFill>
              <a:srgbClr val="22A0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objective: large readable labels, simple navigation, voice guidance and clear support for elderly and first-time users.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E8F7EF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8: Hospital Services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Patient services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E8F5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Appointment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Profiles, timings, slots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429000" y="105156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Pharmacy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Availability, pickup/delivery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63640" y="105156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Test Booking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details, reports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098280" y="105156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FFF4DE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Departments &amp; Services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OPD, ICU, blood bank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E8F5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Directory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doctor list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29000" y="205740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E8FBF8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Ambulance Request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emergency pathway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63640" y="2057400"/>
            <a:ext cx="2514600" cy="685800"/>
          </a:xfrm>
          <a:prstGeom prst="roundRect">
            <a:avLst>
              <a:gd name="adj" fmla="val 12000"/>
            </a:avLst>
          </a:prstGeom>
          <a:solidFill>
            <a:srgbClr val="F0ED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 &amp; Location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and hospital details</a:t>
            </a:r>
            <a:endParaRPr lang="en-US" sz="950" dirty="0"/>
          </a:p>
        </p:txBody>
      </p:sp>
      <p:pic>
        <p:nvPicPr>
          <p:cNvPr id="12" name="Image 0" descr="/mnt/data/wide_clean_vector_flat_soft_gradient_info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46120"/>
            <a:ext cx="5120640" cy="2880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46520" y="3474720"/>
            <a:ext cx="4983480" cy="868680"/>
          </a:xfrm>
          <a:prstGeom prst="roundRect">
            <a:avLst>
              <a:gd name="adj" fmla="val 9474"/>
            </a:avLst>
          </a:prstGeom>
          <a:solidFill>
            <a:srgbClr val="FFF4DE"/>
          </a:solidFill>
          <a:ln w="12700">
            <a:solidFill>
              <a:srgbClr val="F8D9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rule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services are accessible directly. A patient in emergency should not be forced through AI consultation first.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46520" y="4617720"/>
            <a:ext cx="4983480" cy="868680"/>
          </a:xfrm>
          <a:prstGeom prst="roundRect">
            <a:avLst>
              <a:gd name="adj" fmla="val 9474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connection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 schedules, pharmacy stock, lab tests, departments and ambulance workflow are managed from Module 9.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9: Hospital Admin Portal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E8F5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Auth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88920" y="1005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4920" y="1005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E8F5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60920" y="1005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46920" y="100584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E8F5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Pharmacy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Tests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182880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E8F5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82880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Ambulance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60920" y="182880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E8F5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46920" y="1828800"/>
            <a:ext cx="201168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FFF4DE"/>
          </a:solidFill>
          <a:ln w="12700">
            <a:solidFill>
              <a:srgbClr val="F8D9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portal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must never receive admin CRUD privileges.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94760" y="292608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E8FBF8"/>
          </a:solidFill>
          <a:ln w="12700">
            <a:solidFill>
              <a:srgbClr val="B6E7D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3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access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3A8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staff role gets only required permissions.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95160" y="2926080"/>
            <a:ext cx="2880360" cy="960120"/>
          </a:xfrm>
          <a:prstGeom prst="roundRect">
            <a:avLst>
              <a:gd name="adj" fmla="val 8571"/>
            </a:avLst>
          </a:prstGeom>
          <a:solidFill>
            <a:srgbClr val="F0EDFF"/>
          </a:solidFill>
          <a:ln w="12700">
            <a:solidFill>
              <a:srgbClr val="D5CD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72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Auditability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72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High-impact actions are logged and confirmed.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4617720"/>
            <a:ext cx="9829800" cy="822960"/>
          </a:xfrm>
          <a:prstGeom prst="roundRect">
            <a:avLst>
              <a:gd name="adj" fmla="val 10000"/>
            </a:avLst>
          </a:prstGeom>
          <a:solidFill>
            <a:srgbClr val="B9DDF4"/>
          </a:solidFill>
          <a:ln w="12700">
            <a:solidFill>
              <a:srgbClr val="1172D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data powers patient services: Doctor Management -&gt; Directory + Appointments | Lab Management -&gt; Lab booking + reports | Notifications -&gt; patient alerts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E8F5FF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Security, privacy and consent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Trust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234440"/>
            <a:ext cx="502920" cy="502920"/>
          </a:xfrm>
          <a:prstGeom prst="ellipse">
            <a:avLst/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7830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or admin login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78608" y="2304288"/>
            <a:ext cx="374904" cy="0"/>
          </a:xfrm>
          <a:prstGeom prst="line">
            <a:avLst/>
          </a:prstGeom>
          <a:noFill/>
          <a:ln w="2159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57600" y="1234440"/>
            <a:ext cx="502920" cy="502920"/>
          </a:xfrm>
          <a:prstGeom prst="ellipse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874520"/>
            <a:ext cx="17830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/ ownership check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18888" y="2304288"/>
            <a:ext cx="374904" cy="0"/>
          </a:xfrm>
          <a:prstGeom prst="line">
            <a:avLst/>
          </a:prstGeom>
          <a:noFill/>
          <a:ln w="2159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897880" y="1234440"/>
            <a:ext cx="502920" cy="502920"/>
          </a:xfrm>
          <a:prstGeom prst="ellipse">
            <a:avLst/>
          </a:prstGeom>
          <a:solidFill>
            <a:srgbClr val="7257D5"/>
          </a:solidFill>
          <a:ln>
            <a:solidFill>
              <a:srgbClr val="7257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57800" y="1874520"/>
            <a:ext cx="17830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file rules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59168" y="2304288"/>
            <a:ext cx="374904" cy="0"/>
          </a:xfrm>
          <a:prstGeom prst="line">
            <a:avLst/>
          </a:prstGeom>
          <a:noFill/>
          <a:ln w="2159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138160" y="1234440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1874520"/>
            <a:ext cx="17830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securely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+ protected 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99448" y="2304288"/>
            <a:ext cx="374904" cy="0"/>
          </a:xfrm>
          <a:prstGeom prst="line">
            <a:avLst/>
          </a:prstGeom>
          <a:noFill/>
          <a:ln w="21590">
            <a:solidFill>
              <a:srgbClr val="13A8A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378440" y="1234440"/>
            <a:ext cx="502920" cy="502920"/>
          </a:xfrm>
          <a:prstGeom prst="ellipse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38360" y="1874520"/>
            <a:ext cx="17830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operations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E8F5FF"/>
          </a:solidFill>
          <a:ln w="12700">
            <a:solidFill>
              <a:srgbClr val="B9DDF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data isolation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172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A must never access Patient B reports, notifications or appointments.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3657600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E8F7EF"/>
          </a:solidFill>
          <a:ln w="12700">
            <a:solidFill>
              <a:srgbClr val="BDEB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Consent-first design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2A0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and permission handling prepares the system for ABDM/HIS/EMR integration.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83880" y="3657600"/>
            <a:ext cx="3383280" cy="914400"/>
          </a:xfrm>
          <a:prstGeom prst="roundRect">
            <a:avLst>
              <a:gd name="adj" fmla="val 9000"/>
            </a:avLst>
          </a:prstGeom>
          <a:solidFill>
            <a:srgbClr val="FFF4DE"/>
          </a:solidFill>
          <a:ln w="12700">
            <a:solidFill>
              <a:srgbClr val="F8D99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safety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output is never positioned as autonomous diagnosis or prescription.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SIH requirement alignment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Coverage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33272"/>
            <a:ext cx="4480560" cy="347472"/>
          </a:xfrm>
          <a:prstGeom prst="rect">
            <a:avLst/>
          </a:prstGeom>
          <a:solidFill>
            <a:srgbClr val="0B3558"/>
          </a:solidFill>
          <a:ln>
            <a:solidFill>
              <a:srgbClr val="0B3558"/>
            </a:solidFill>
          </a:ln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Requirement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57800" y="1033272"/>
            <a:ext cx="6080760" cy="347472"/>
          </a:xfrm>
          <a:prstGeom prst="rect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889" tIns="889" rIns="889" bIns="889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 coverage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4480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Independent history capture</a:t>
            </a:r>
            <a:endParaRPr lang="en-US" sz="1160" dirty="0"/>
          </a:p>
        </p:txBody>
      </p:sp>
      <p:sp>
        <p:nvSpPr>
          <p:cNvPr id="8" name="Text 6"/>
          <p:cNvSpPr/>
          <p:nvPr/>
        </p:nvSpPr>
        <p:spPr>
          <a:xfrm>
            <a:off x="5257800" y="1417320"/>
            <a:ext cx="6080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AI Consultation + Voice Assistant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4480560" cy="384048"/>
          </a:xfrm>
          <a:prstGeom prst="rect">
            <a:avLst/>
          </a:prstGeom>
          <a:solidFill>
            <a:srgbClr val="F6FB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Natural voice + guided interaction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5257800" y="1920240"/>
            <a:ext cx="6080760" cy="384048"/>
          </a:xfrm>
          <a:prstGeom prst="rect">
            <a:avLst/>
          </a:prstGeom>
          <a:solidFill>
            <a:srgbClr val="F6FB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Voice-led UI and accessibility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4480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Adaptive clinical questioning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5257800" y="2423160"/>
            <a:ext cx="6080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Dynamic follow-up conversation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4480560" cy="384048"/>
          </a:xfrm>
          <a:prstGeom prst="rect">
            <a:avLst/>
          </a:prstGeom>
          <a:solidFill>
            <a:srgbClr val="F6FB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Medical document digitization</a:t>
            </a:r>
            <a:endParaRPr lang="en-US" sz="1160" dirty="0"/>
          </a:p>
        </p:txBody>
      </p:sp>
      <p:sp>
        <p:nvSpPr>
          <p:cNvPr id="14" name="Text 12"/>
          <p:cNvSpPr/>
          <p:nvPr/>
        </p:nvSpPr>
        <p:spPr>
          <a:xfrm>
            <a:off x="5257800" y="2926080"/>
            <a:ext cx="6080760" cy="384048"/>
          </a:xfrm>
          <a:prstGeom prst="rect">
            <a:avLst/>
          </a:prstGeom>
          <a:solidFill>
            <a:srgbClr val="F6FB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Optional upload + OCR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4480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Physician-ready summary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5257800" y="3429000"/>
            <a:ext cx="6080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AI Patient Report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4480560" cy="384048"/>
          </a:xfrm>
          <a:prstGeom prst="rect">
            <a:avLst/>
          </a:prstGeom>
          <a:solidFill>
            <a:srgbClr val="F6FB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Editable/verifiable report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5257800" y="3931920"/>
            <a:ext cx="6080760" cy="384048"/>
          </a:xfrm>
          <a:prstGeom prst="rect">
            <a:avLst/>
          </a:prstGeom>
          <a:solidFill>
            <a:srgbClr val="F6FB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Review, Edit and Confirm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4480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Hindi/English support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5257800" y="4434840"/>
            <a:ext cx="60807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Multi-Language Support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777240" y="4937760"/>
            <a:ext cx="4480560" cy="384048"/>
          </a:xfrm>
          <a:prstGeom prst="rect">
            <a:avLst/>
          </a:prstGeom>
          <a:solidFill>
            <a:srgbClr val="F6FB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No autonomous diagnosis</a:t>
            </a:r>
            <a:endParaRPr lang="en-US" sz="1160" dirty="0"/>
          </a:p>
        </p:txBody>
      </p:sp>
      <p:sp>
        <p:nvSpPr>
          <p:cNvPr id="22" name="Text 20"/>
          <p:cNvSpPr/>
          <p:nvPr/>
        </p:nvSpPr>
        <p:spPr>
          <a:xfrm>
            <a:off x="5257800" y="4937760"/>
            <a:ext cx="6080760" cy="384048"/>
          </a:xfrm>
          <a:prstGeom prst="rect">
            <a:avLst/>
          </a:prstGeom>
          <a:solidFill>
            <a:srgbClr val="F6FBFF"/>
          </a:solidFill>
          <a:ln>
            <a:solidFill>
              <a:srgbClr val="D2E4E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72B3A"/>
                </a:solidFill>
              </a:rPr>
              <a:t>Core safety principle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777240" y="5696712"/>
            <a:ext cx="10561320" cy="548640"/>
          </a:xfrm>
          <a:prstGeom prst="roundRect">
            <a:avLst>
              <a:gd name="adj" fmla="val 15000"/>
            </a:avLst>
          </a:prstGeom>
          <a:solidFill>
            <a:srgbClr val="F0EDFF"/>
          </a:solidFill>
          <a:ln w="12700">
            <a:solidFill>
              <a:srgbClr val="D5CD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72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note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257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Services and Admin Portal are useful extensions, separated from the core AI case-taking workflow for clear SIH demonstration.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55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build order for demo-ready implementation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509760" y="237744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Roadmap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11338560" cy="0"/>
          </a:xfrm>
          <a:prstGeom prst="line">
            <a:avLst/>
          </a:prstGeom>
          <a:noFill/>
          <a:ln w="12700">
            <a:solidFill>
              <a:srgbClr val="D7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568"/>
            <a:ext cx="457200" cy="457200"/>
          </a:xfrm>
          <a:prstGeom prst="ellipse">
            <a:avLst/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005840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+ Registration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profile creation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389120" y="1115568"/>
            <a:ext cx="457200" cy="457200"/>
          </a:xfrm>
          <a:prstGeom prst="ellipse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0" y="1005840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Consultation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flow, dynamic Q&amp;A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138160" y="1115568"/>
            <a:ext cx="457200" cy="457200"/>
          </a:xfrm>
          <a:prstGeom prst="ellipse">
            <a:avLst/>
          </a:prstGeom>
          <a:solidFill>
            <a:srgbClr val="7257D5"/>
          </a:solidFill>
          <a:ln>
            <a:solidFill>
              <a:srgbClr val="7257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32520" y="1005840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+ OCR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report processing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084832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Engine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Review, edit, confirm, PDF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389120" y="2194560"/>
            <a:ext cx="457200" cy="457200"/>
          </a:xfrm>
          <a:prstGeom prst="ellipse">
            <a:avLst/>
          </a:prstGeom>
          <a:solidFill>
            <a:srgbClr val="22A06B"/>
          </a:solidFill>
          <a:ln>
            <a:solidFill>
              <a:srgbClr val="22A0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084832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+ Notifications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History, alerts, preferences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138160" y="2194560"/>
            <a:ext cx="457200" cy="457200"/>
          </a:xfrm>
          <a:prstGeom prst="ellipse">
            <a:avLst/>
          </a:prstGeom>
          <a:solidFill>
            <a:srgbClr val="1172D2"/>
          </a:solidFill>
          <a:ln>
            <a:solidFill>
              <a:srgbClr val="1172D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32520" y="2084832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+ Support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Hindi/English, FAQ, guide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163824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Services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Appointments, lab, pharmacy, ambulance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389120" y="3273552"/>
            <a:ext cx="457200" cy="457200"/>
          </a:xfrm>
          <a:prstGeom prst="ellipse">
            <a:avLst/>
          </a:prstGeom>
          <a:solidFill>
            <a:srgbClr val="7257D5"/>
          </a:solidFill>
          <a:ln>
            <a:solidFill>
              <a:srgbClr val="7257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163824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Portal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CRUD, RBAC, analytics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138160" y="3273552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3163824"/>
            <a:ext cx="283464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D2E4E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Hardening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0B35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testing, deployment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1828800" y="5486400"/>
            <a:ext cx="8549640" cy="621792"/>
          </a:xfrm>
          <a:prstGeom prst="roundRect">
            <a:avLst>
              <a:gd name="adj" fmla="val 13235"/>
            </a:avLst>
          </a:prstGeom>
          <a:solidFill>
            <a:srgbClr val="B9DDF4"/>
          </a:solidFill>
          <a:ln w="12700">
            <a:solidFill>
              <a:srgbClr val="1172D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story: Patient registers -&gt; speaks to AI -&gt; uploads report -&gt; reviews PDF -&gt; doctor receives structured history -&gt; admin manages hospital services.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7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E8F5FF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92840" y="658368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7383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lean_modern_futuristic_hospital_clinic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057400"/>
            <a:ext cx="5440680" cy="3063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0B3558"/>
          </a:solidFill>
          <a:ln w="12700">
            <a:solidFill>
              <a:srgbClr val="0B355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868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7D5"/>
                </a:solidFill>
              </a:rPr>
              <a:t>Final project definition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Faster, cleaner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clinical history before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doctor consultation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58368" y="30632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E7F3"/>
                </a:solidFill>
              </a:rPr>
              <a:t>The project value is not autonomous diagnosis. Its value is structured clinical intake, document digitization, patient report generation and connected hospital services.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4617720"/>
            <a:ext cx="1325880" cy="256032"/>
          </a:xfrm>
          <a:prstGeom prst="roundRect">
            <a:avLst/>
          </a:prstGeom>
          <a:solidFill>
            <a:srgbClr val="13A8A8"/>
          </a:solidFill>
          <a:ln>
            <a:solidFill>
              <a:srgbClr val="13A8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VOICE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176272" y="4617720"/>
            <a:ext cx="1325880" cy="256032"/>
          </a:xfrm>
          <a:prstGeom prst="roundRect">
            <a:avLst/>
          </a:prstGeom>
          <a:solidFill>
            <a:srgbClr val="7257D5"/>
          </a:solidFill>
          <a:ln>
            <a:solidFill>
              <a:srgbClr val="7257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OCR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94176" y="4617720"/>
            <a:ext cx="1325880" cy="2560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5852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7F3"/>
                </a:solidFill>
              </a:rPr>
              <a:t>SIH Patient Case-Taking Software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Patient Case-Taking Software - Visual Architecture &amp; Workflow</dc:title>
  <dc:subject>SIH Patient Case-Taking Software visual architecture deck</dc:subject>
  <dc:creator>OpenAI</dc:creator>
  <cp:lastModifiedBy>OpenAI</cp:lastModifiedBy>
  <cp:revision>1</cp:revision>
  <dcterms:created xsi:type="dcterms:W3CDTF">2026-09-06T03:22:13Z</dcterms:created>
  <dcterms:modified xsi:type="dcterms:W3CDTF">2026-09-06T03:22:13Z</dcterms:modified>
</cp:coreProperties>
</file>
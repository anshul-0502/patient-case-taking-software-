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image" Target="../media/image-8-1.png"/><Relationship Id="rId8" Type="http://schemas.openxmlformats.org/officeDocument/2006/relationships/image" Target="../media/image-8-1.png"/><Relationship Id="rId9" Type="http://schemas.openxmlformats.org/officeDocument/2006/relationships/image" Target="../media/image-8-1.png"/><Relationship Id="rId10" Type="http://schemas.openxmlformats.org/officeDocument/2006/relationships/image" Target="../media/image-8-1.png"/><Relationship Id="rId11" Type="http://schemas.openxmlformats.org/officeDocument/2006/relationships/image" Target="../media/image-8-1.png"/><Relationship Id="rId12" Type="http://schemas.openxmlformats.org/officeDocument/2006/relationships/image" Target="../media/image-8-1.png"/><Relationship Id="rId13" Type="http://schemas.openxmlformats.org/officeDocument/2006/relationships/image" Target="../media/image-8-1.png"/><Relationship Id="rId14" Type="http://schemas.openxmlformats.org/officeDocument/2006/relationships/image" Target="../media/image-8-1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2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1.png"/><Relationship Id="rId6" Type="http://schemas.openxmlformats.org/officeDocument/2006/relationships/image" Target="../media/image-11-1.png"/><Relationship Id="rId7" Type="http://schemas.openxmlformats.org/officeDocument/2006/relationships/image" Target="../media/image-11-1.png"/><Relationship Id="rId8" Type="http://schemas.openxmlformats.org/officeDocument/2006/relationships/image" Target="../media/image-11-1.png"/><Relationship Id="rId9" Type="http://schemas.openxmlformats.org/officeDocument/2006/relationships/image" Target="../media/image-11-1.png"/><Relationship Id="rId10" Type="http://schemas.openxmlformats.org/officeDocument/2006/relationships/image" Target="../media/image-11-1.png"/><Relationship Id="rId11" Type="http://schemas.openxmlformats.org/officeDocument/2006/relationships/image" Target="../media/image-11-1.png"/><Relationship Id="rId12" Type="http://schemas.openxmlformats.org/officeDocument/2006/relationships/image" Target="../media/image-11-1.png"/><Relationship Id="rId13" Type="http://schemas.openxmlformats.org/officeDocument/2006/relationships/image" Target="../media/image-11-1.png"/><Relationship Id="rId14" Type="http://schemas.openxmlformats.org/officeDocument/2006/relationships/image" Target="../media/image-11-1.png"/><Relationship Id="rId15" Type="http://schemas.openxmlformats.org/officeDocument/2006/relationships/image" Target="../media/image-11-1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1.png"/><Relationship Id="rId6" Type="http://schemas.openxmlformats.org/officeDocument/2006/relationships/image" Target="../media/image-1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1.png"/><Relationship Id="rId4" Type="http://schemas.openxmlformats.org/officeDocument/2006/relationships/image" Target="../media/image-19-1.png"/><Relationship Id="rId5" Type="http://schemas.openxmlformats.org/officeDocument/2006/relationships/image" Target="../media/image-19-1.png"/><Relationship Id="rId6" Type="http://schemas.openxmlformats.org/officeDocument/2006/relationships/image" Target="../media/image-19-1.png"/><Relationship Id="rId7" Type="http://schemas.openxmlformats.org/officeDocument/2006/relationships/image" Target="../media/image-19-1.png"/><Relationship Id="rId8" Type="http://schemas.openxmlformats.org/officeDocument/2006/relationships/image" Target="../media/image-19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image" Target="../media/image-23-1.png"/><Relationship Id="rId4" Type="http://schemas.openxmlformats.org/officeDocument/2006/relationships/image" Target="../media/image-23-1.png"/><Relationship Id="rId5" Type="http://schemas.openxmlformats.org/officeDocument/2006/relationships/image" Target="../media/image-23-1.png"/><Relationship Id="rId6" Type="http://schemas.openxmlformats.org/officeDocument/2006/relationships/image" Target="../media/image-23-1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1.png"/><Relationship Id="rId3" Type="http://schemas.openxmlformats.org/officeDocument/2006/relationships/image" Target="../media/image-25-1.png"/><Relationship Id="rId4" Type="http://schemas.openxmlformats.org/officeDocument/2006/relationships/image" Target="../media/image-25-1.png"/><Relationship Id="rId5" Type="http://schemas.openxmlformats.org/officeDocument/2006/relationships/image" Target="../media/image-25-1.png"/><Relationship Id="rId6" Type="http://schemas.openxmlformats.org/officeDocument/2006/relationships/image" Target="../media/image-25-1.png"/><Relationship Id="rId7" Type="http://schemas.openxmlformats.org/officeDocument/2006/relationships/image" Target="../media/image-25-1.png"/><Relationship Id="rId8" Type="http://schemas.openxmlformats.org/officeDocument/2006/relationships/image" Target="../media/image-25-1.png"/><Relationship Id="rId9" Type="http://schemas.openxmlformats.org/officeDocument/2006/relationships/image" Target="../media/image-25-1.png"/><Relationship Id="rId10" Type="http://schemas.openxmlformats.org/officeDocument/2006/relationships/image" Target="../media/image-25-1.png"/><Relationship Id="rId11" Type="http://schemas.openxmlformats.org/officeDocument/2006/relationships/image" Target="../media/image-25-1.png"/><Relationship Id="rId12" Type="http://schemas.openxmlformats.org/officeDocument/2006/relationships/image" Target="../media/image-25-1.png"/><Relationship Id="rId13" Type="http://schemas.openxmlformats.org/officeDocument/2006/relationships/image" Target="../media/image-25-1.png"/><Relationship Id="rId14" Type="http://schemas.openxmlformats.org/officeDocument/2006/relationships/image" Target="../media/image-25-1.png"/><Relationship Id="rId15" Type="http://schemas.openxmlformats.org/officeDocument/2006/relationships/image" Target="../media/image-25-1.png"/><Relationship Id="rId16" Type="http://schemas.openxmlformats.org/officeDocument/2006/relationships/image" Target="../media/image-25-1.png"/><Relationship Id="rId17" Type="http://schemas.openxmlformats.org/officeDocument/2006/relationships/image" Target="../media/image-25-1.png"/><Relationship Id="rId18" Type="http://schemas.openxmlformats.org/officeDocument/2006/relationships/image" Target="../media/image-25-1.png"/><Relationship Id="rId19" Type="http://schemas.openxmlformats.org/officeDocument/2006/relationships/image" Target="../media/image-25-1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1.png"/><Relationship Id="rId3" Type="http://schemas.openxmlformats.org/officeDocument/2006/relationships/image" Target="../media/image-39-1.png"/><Relationship Id="rId4" Type="http://schemas.openxmlformats.org/officeDocument/2006/relationships/image" Target="../media/image-39-1.png"/><Relationship Id="rId5" Type="http://schemas.openxmlformats.org/officeDocument/2006/relationships/image" Target="../media/image-3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image" Target="../media/image-44-6.png"/><Relationship Id="rId7" Type="http://schemas.openxmlformats.org/officeDocument/2006/relationships/image" Target="../media/image-44-7.png"/><Relationship Id="rId8" Type="http://schemas.openxmlformats.org/officeDocument/2006/relationships/image" Target="../media/image-44-8.png"/><Relationship Id="rId9" Type="http://schemas.openxmlformats.org/officeDocument/2006/relationships/image" Target="../media/image-44-9.png"/><Relationship Id="rId10" Type="http://schemas.openxmlformats.org/officeDocument/2006/relationships/image" Target="../media/image-4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1.png"/><Relationship Id="rId3" Type="http://schemas.openxmlformats.org/officeDocument/2006/relationships/image" Target="../media/image-48-1.png"/><Relationship Id="rId4" Type="http://schemas.openxmlformats.org/officeDocument/2006/relationships/image" Target="../media/image-48-1.png"/><Relationship Id="rId5" Type="http://schemas.openxmlformats.org/officeDocument/2006/relationships/image" Target="../media/image-48-1.png"/><Relationship Id="rId6" Type="http://schemas.openxmlformats.org/officeDocument/2006/relationships/image" Target="../media/image-48-1.png"/><Relationship Id="rId7" Type="http://schemas.openxmlformats.org/officeDocument/2006/relationships/image" Target="../media/image-48-1.png"/><Relationship Id="rId8" Type="http://schemas.openxmlformats.org/officeDocument/2006/relationships/image" Target="../media/image-48-1.png"/><Relationship Id="rId9" Type="http://schemas.openxmlformats.org/officeDocument/2006/relationships/image" Target="../media/image-48-1.png"/><Relationship Id="rId10" Type="http://schemas.openxmlformats.org/officeDocument/2006/relationships/image" Target="../media/image-48-1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194560"/>
            <a:ext cx="5943600" cy="594360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120640" cy="512064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70432"/>
            <a:ext cx="306324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1704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Case-Taking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Functional Documentation — Approved Project Design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489704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434340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Ayush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855464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70916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India Institute of Ayurveda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221224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50749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586984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544068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26047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2148840"/>
            <a:ext cx="2286000" cy="22860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7" name="Image 0" descr="/home/claude/sih_ppt/icon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697480"/>
            <a:ext cx="1188720" cy="11887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869680" y="1965960"/>
            <a:ext cx="2651760" cy="2651760"/>
          </a:xfrm>
          <a:prstGeom prst="ellipse">
            <a:avLst/>
          </a:prstGeom>
          <a:ln w="28575">
            <a:solidFill>
              <a:srgbClr val="E8A3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 / BioTech / HealthTech  •  Theme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0020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snapshot &amp; problem statement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 &amp; project overview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&amp; system architecture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Patient Registration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AI Consultation (core module)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My Report History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Notification Center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60020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My Profile &amp; Settings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Multi-Language Support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Help &amp; Support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Hospital Services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Hospital Admin Portal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requirements &amp; SIH alignment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 &amp; final project definition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SNAPSHOT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E4F2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56232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Modules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47288" y="16916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E4F2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47288" y="1856232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3584448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— Hindi &amp; English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54496" y="16916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E4F2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54496" y="1856232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6391656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 — No Autonomous Diagnosis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61704" y="16916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E4F2E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61704" y="1856232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9198864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States — Draft, Review, Confirmed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10881360" cy="2011680"/>
          </a:xfrm>
          <a:prstGeom prst="roundRect">
            <a:avLst>
              <a:gd name="adj" fmla="val 4091"/>
            </a:avLst>
          </a:prstGeom>
          <a:solidFill>
            <a:srgbClr val="0A4A47"/>
          </a:solidFill>
          <a:ln/>
        </p:spPr>
      </p:sp>
      <p:sp>
        <p:nvSpPr>
          <p:cNvPr id="21" name="Shape 19"/>
          <p:cNvSpPr/>
          <p:nvPr/>
        </p:nvSpPr>
        <p:spPr>
          <a:xfrm>
            <a:off x="960120" y="4526280"/>
            <a:ext cx="914400" cy="91440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2" name="Image 0" descr="/home/claude/sih_ppt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4745736"/>
            <a:ext cx="475488" cy="47548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2148840" y="42519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Value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148840" y="4617720"/>
            <a:ext cx="9052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complete and more structured clinical history acquisition before the physician consultation — the AI supports the doctor, it never replaces clinical judgement.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Case-Taking Software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10881360" cy="621792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9164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691640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Ayush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313432"/>
            <a:ext cx="108813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31343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313432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India Institute of Ayurveda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2935224"/>
            <a:ext cx="10881360" cy="621792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293522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935224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3557016"/>
            <a:ext cx="108813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355701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557016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 / BioTech / HealthTech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178808"/>
            <a:ext cx="10881360" cy="621792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17880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4178808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26047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4F2E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54223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does not provide an autonomous final diagnosis. It collects and structures clinical history, digitizes documents, and generates a physician-ready report — the doctor stays in control.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4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3" name="Shape 1"/>
          <p:cNvSpPr/>
          <p:nvPr/>
        </p:nvSpPr>
        <p:spPr>
          <a:xfrm>
            <a:off x="5596128" y="1051560"/>
            <a:ext cx="1005840" cy="100584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4" name="Image 0" descr="/home/claude/sih_ppt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7530" y="1292962"/>
            <a:ext cx="523037" cy="52303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331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DESIGN PRINCIPLE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7889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 The AI does not provide an autonomous final diagnosis. ”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388620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collects and structures the patient's clinical history, digitizes supporting medical documents, generates a physician-ready report, and keeps the doctor in control of clinical diagnosis and treatment.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patient-facing clinical intake platform designed to reduce the history-taking bottleneck in busy hospital OPDs.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register, converse with an AI consultation assistant through voice, optionally upload previous medical documents, review the generated report, and receive a structured PDF for the physician.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on clinical history acquisition rather than autonomous diagnosis — a structured digital case-taking layer between patient and doctor.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design also includes patient-facing hospital services and a separate authenticated hospital administration portal.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0" y="1691640"/>
            <a:ext cx="4251960" cy="923544"/>
          </a:xfrm>
          <a:prstGeom prst="roundRect">
            <a:avLst>
              <a:gd name="adj" fmla="val 6931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61504" y="1837944"/>
            <a:ext cx="502920" cy="5029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1" name="Image 0" descr="/home/claude/sih_ppt/icons/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2205" y="1958645"/>
            <a:ext cx="261518" cy="26151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2440" y="1783080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Voice-led intake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461504" y="2414016"/>
            <a:ext cx="3959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conversation replaces long forms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0" y="2816352"/>
            <a:ext cx="4251960" cy="923544"/>
          </a:xfrm>
          <a:prstGeom prst="roundRect">
            <a:avLst>
              <a:gd name="adj" fmla="val 6931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61504" y="2962656"/>
            <a:ext cx="502920" cy="5029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6" name="Image 1" descr="/home/claude/sih_ppt/icons/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205" y="3083357"/>
            <a:ext cx="261518" cy="26151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092440" y="2907792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461504" y="3538728"/>
            <a:ext cx="3959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Physician-ready clinical history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315200" y="3941064"/>
            <a:ext cx="4251960" cy="923544"/>
          </a:xfrm>
          <a:prstGeom prst="roundRect">
            <a:avLst>
              <a:gd name="adj" fmla="val 6931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61504" y="4087368"/>
            <a:ext cx="502920" cy="5029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1" name="Image 2" descr="/home/claude/sih_ppt/icons/hospi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205" y="4208069"/>
            <a:ext cx="261518" cy="26151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092440" y="4032504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services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7461504" y="4663440"/>
            <a:ext cx="3959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core AI workflow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315200" y="5065776"/>
            <a:ext cx="4251960" cy="923544"/>
          </a:xfrm>
          <a:prstGeom prst="roundRect">
            <a:avLst>
              <a:gd name="adj" fmla="val 6931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461504" y="5212080"/>
            <a:ext cx="502920" cy="5029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6" name="Image 3" descr="/home/claude/sih_ppt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205" y="5332781"/>
            <a:ext cx="261518" cy="26151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092440" y="5157216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in control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7461504" y="5788152"/>
            <a:ext cx="3959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autonomous diagnosis, ever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5303520" cy="1037844"/>
          </a:xfrm>
          <a:prstGeom prst="roundRect">
            <a:avLst>
              <a:gd name="adj" fmla="val 6167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890522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0" name="Image 0" descr="/home/claude/sih_ppt/icons/user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00250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44752" y="1673352"/>
            <a:ext cx="435254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repetitive manual history-taking before the doctor meets the patient.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17920" y="1600200"/>
            <a:ext cx="5303520" cy="1037844"/>
          </a:xfrm>
          <a:prstGeom prst="roundRect">
            <a:avLst>
              <a:gd name="adj" fmla="val 6167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1890522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4" name="Image 1" descr="/home/claude/sih_ppt/icons/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00025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022592" y="1673352"/>
            <a:ext cx="435254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complaints &amp; history through a simple voice-led interaction.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2839212"/>
            <a:ext cx="5303520" cy="1037844"/>
          </a:xfrm>
          <a:prstGeom prst="roundRect">
            <a:avLst>
              <a:gd name="adj" fmla="val 6167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3129534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8" name="Image 2" descr="/home/claude/sih_ppt/icons/up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239262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44752" y="2912364"/>
            <a:ext cx="435254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previous prescriptions, lab reports &amp; discharge summaries feed the final report.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17920" y="2839212"/>
            <a:ext cx="5303520" cy="1037844"/>
          </a:xfrm>
          <a:prstGeom prst="roundRect">
            <a:avLst>
              <a:gd name="adj" fmla="val 6167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0" y="3129534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2" name="Image 3" descr="/home/claude/sih_ppt/icons/filetex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239262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22592" y="2912364"/>
            <a:ext cx="435254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concise, structured, physician-readable clinical history report.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4078224"/>
            <a:ext cx="5303520" cy="1037844"/>
          </a:xfrm>
          <a:prstGeom prst="roundRect">
            <a:avLst>
              <a:gd name="adj" fmla="val 6167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22960" y="4368546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6" name="Image 4" descr="/home/claude/sih_ppt/icons/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47827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44752" y="4151376"/>
            <a:ext cx="435254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patient report history for later viewing, downloading &amp; printing.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217920" y="4078224"/>
            <a:ext cx="5303520" cy="1037844"/>
          </a:xfrm>
          <a:prstGeom prst="roundRect">
            <a:avLst>
              <a:gd name="adj" fmla="val 6167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400800" y="4368546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0" name="Image 5" descr="/home/claude/sih_ppt/icons/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478274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22592" y="4151376"/>
            <a:ext cx="435254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Hindi and English support with accessibility-oriented UI.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640080" y="5317236"/>
            <a:ext cx="5303520" cy="1037844"/>
          </a:xfrm>
          <a:prstGeom prst="roundRect">
            <a:avLst>
              <a:gd name="adj" fmla="val 6167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22960" y="5607558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4" name="Image 6" descr="/home/claude/sih_ppt/icons/hospit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5717286"/>
            <a:ext cx="237744" cy="2377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444752" y="5390388"/>
            <a:ext cx="435254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hospital-facing services without mixing them into the AI diagnosis flow.</a:t>
            </a:r>
            <a:endParaRPr lang="en-US" sz="1250" dirty="0"/>
          </a:p>
        </p:txBody>
      </p:sp>
      <p:sp>
        <p:nvSpPr>
          <p:cNvPr id="36" name="Shape 27"/>
          <p:cNvSpPr/>
          <p:nvPr/>
        </p:nvSpPr>
        <p:spPr>
          <a:xfrm>
            <a:off x="6217920" y="5317236"/>
            <a:ext cx="5303520" cy="1037844"/>
          </a:xfrm>
          <a:prstGeom prst="roundRect">
            <a:avLst>
              <a:gd name="adj" fmla="val 6167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400800" y="5607558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8" name="Image 7" descr="/home/claude/sih_ppt/icons/lo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528" y="5717286"/>
            <a:ext cx="237744" cy="23774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022592" y="5390388"/>
            <a:ext cx="435254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final medical diagnosis and treatment decisions with the physician.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User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2528316" cy="960120"/>
          </a:xfrm>
          <a:prstGeom prst="roundRect">
            <a:avLst>
              <a:gd name="adj" fmla="val 7619"/>
            </a:avLst>
          </a:prstGeom>
          <a:solidFill>
            <a:srgbClr val="0F6E6A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94944" y="1929384"/>
            <a:ext cx="241858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50" dirty="0"/>
          </a:p>
        </p:txBody>
      </p:sp>
      <p:pic>
        <p:nvPicPr>
          <p:cNvPr id="11" name="Image 0" descr="/home/claude/sih_ppt/icons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5828" y="2253996"/>
            <a:ext cx="201168" cy="2011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150108" y="220827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1" descr="/home/claude/sih_ppt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116" y="2272284"/>
            <a:ext cx="164592" cy="1645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24428" y="1874520"/>
            <a:ext cx="2528316" cy="960120"/>
          </a:xfrm>
          <a:prstGeom prst="roundRect">
            <a:avLst>
              <a:gd name="adj" fmla="val 7619"/>
            </a:avLst>
          </a:prstGeom>
          <a:solidFill>
            <a:srgbClr val="146F68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3479292" y="1929384"/>
            <a:ext cx="241858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250" dirty="0"/>
          </a:p>
        </p:txBody>
      </p:sp>
      <p:pic>
        <p:nvPicPr>
          <p:cNvPr id="16" name="Image 2" descr="/home/claude/sih_ppt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2253996"/>
            <a:ext cx="201168" cy="20116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934456" y="220827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3" descr="/home/claude/sih_ppt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2272284"/>
            <a:ext cx="164592" cy="16459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08776" y="1874520"/>
            <a:ext cx="2528316" cy="960120"/>
          </a:xfrm>
          <a:prstGeom prst="roundRect">
            <a:avLst>
              <a:gd name="adj" fmla="val 7619"/>
            </a:avLst>
          </a:prstGeom>
          <a:solidFill>
            <a:srgbClr val="0F6E6A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6263640" y="1929384"/>
            <a:ext cx="241858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1250" dirty="0"/>
          </a:p>
        </p:txBody>
      </p:sp>
      <p:pic>
        <p:nvPicPr>
          <p:cNvPr id="21" name="Image 4" descr="/home/claude/sih_ppt/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4524" y="2253996"/>
            <a:ext cx="201168" cy="20116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718804" y="220827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3" name="Image 5" descr="/home/claude/sih_ppt/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2812" y="2272284"/>
            <a:ext cx="164592" cy="16459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8993124" y="1874520"/>
            <a:ext cx="2528316" cy="960120"/>
          </a:xfrm>
          <a:prstGeom prst="roundRect">
            <a:avLst>
              <a:gd name="adj" fmla="val 7619"/>
            </a:avLst>
          </a:prstGeom>
          <a:solidFill>
            <a:srgbClr val="146F68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25" name="Text 17"/>
          <p:cNvSpPr txBox="1"/>
          <p:nvPr/>
        </p:nvSpPr>
        <p:spPr>
          <a:xfrm>
            <a:off x="9047988" y="1929384"/>
            <a:ext cx="241858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Report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(optional)</a:t>
            </a:r>
            <a:endParaRPr lang="en-US" sz="1250" dirty="0"/>
          </a:p>
        </p:txBody>
      </p:sp>
      <p:sp>
        <p:nvSpPr>
          <p:cNvPr id="26" name="Text 18"/>
          <p:cNvSpPr txBox="1"/>
          <p:nvPr/>
        </p:nvSpPr>
        <p:spPr>
          <a:xfrm>
            <a:off x="64008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640080" y="3566160"/>
            <a:ext cx="1971446" cy="960120"/>
          </a:xfrm>
          <a:prstGeom prst="roundRect">
            <a:avLst>
              <a:gd name="adj" fmla="val 7619"/>
            </a:avLst>
          </a:prstGeom>
          <a:solidFill>
            <a:srgbClr val="146F68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28" name="Text 20"/>
          <p:cNvSpPr txBox="1"/>
          <p:nvPr/>
        </p:nvSpPr>
        <p:spPr>
          <a:xfrm>
            <a:off x="694944" y="3621024"/>
            <a:ext cx="186171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Patient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50" dirty="0"/>
          </a:p>
        </p:txBody>
      </p:sp>
      <p:pic>
        <p:nvPicPr>
          <p:cNvPr id="29" name="Image 6" descr="/home/claude/sih_ppt/icons/arrowr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8958" y="3945636"/>
            <a:ext cx="201168" cy="201168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2593238" y="389991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1" name="Image 7" descr="/home/claude/sih_ppt/icons/arrowr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7246" y="3963924"/>
            <a:ext cx="164592" cy="16459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2867558" y="3566160"/>
            <a:ext cx="1971446" cy="960120"/>
          </a:xfrm>
          <a:prstGeom prst="roundRect">
            <a:avLst>
              <a:gd name="adj" fmla="val 7619"/>
            </a:avLst>
          </a:prstGeom>
          <a:solidFill>
            <a:srgbClr val="0F6E6A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33" name="Text 23"/>
          <p:cNvSpPr txBox="1"/>
          <p:nvPr/>
        </p:nvSpPr>
        <p:spPr>
          <a:xfrm>
            <a:off x="2922422" y="3621024"/>
            <a:ext cx="186171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250" dirty="0"/>
          </a:p>
        </p:txBody>
      </p:sp>
      <p:pic>
        <p:nvPicPr>
          <p:cNvPr id="34" name="Image 8" descr="/home/claude/sih_ppt/icons/arrowr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6437" y="3945636"/>
            <a:ext cx="201168" cy="201168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4820717" y="389991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6" name="Image 9" descr="/home/claude/sih_ppt/icons/arrowrigh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4725" y="3963924"/>
            <a:ext cx="164592" cy="164592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5095037" y="3566160"/>
            <a:ext cx="1971446" cy="960120"/>
          </a:xfrm>
          <a:prstGeom prst="roundRect">
            <a:avLst>
              <a:gd name="adj" fmla="val 7619"/>
            </a:avLst>
          </a:prstGeom>
          <a:solidFill>
            <a:srgbClr val="146F68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38" name="Text 26"/>
          <p:cNvSpPr txBox="1"/>
          <p:nvPr/>
        </p:nvSpPr>
        <p:spPr>
          <a:xfrm>
            <a:off x="5149901" y="3621024"/>
            <a:ext cx="186171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</a:t>
            </a:r>
            <a:endParaRPr lang="en-US" sz="1250" dirty="0"/>
          </a:p>
        </p:txBody>
      </p:sp>
      <p:pic>
        <p:nvPicPr>
          <p:cNvPr id="39" name="Image 10" descr="/home/claude/sih_ppt/icons/arrowrigh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93915" y="3945636"/>
            <a:ext cx="201168" cy="201168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7048195" y="389991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1" name="Image 11" descr="/home/claude/sih_ppt/icons/arrowrigh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12203" y="3963924"/>
            <a:ext cx="164592" cy="164592"/>
          </a:xfrm>
          <a:prstGeom prst="rect">
            <a:avLst/>
          </a:prstGeom>
        </p:spPr>
      </p:pic>
      <p:sp>
        <p:nvSpPr>
          <p:cNvPr id="42" name="Shape 28"/>
          <p:cNvSpPr/>
          <p:nvPr/>
        </p:nvSpPr>
        <p:spPr>
          <a:xfrm>
            <a:off x="7322515" y="3566160"/>
            <a:ext cx="1971446" cy="960120"/>
          </a:xfrm>
          <a:prstGeom prst="roundRect">
            <a:avLst>
              <a:gd name="adj" fmla="val 7619"/>
            </a:avLst>
          </a:prstGeom>
          <a:solidFill>
            <a:srgbClr val="0F6E6A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43" name="Text 29"/>
          <p:cNvSpPr txBox="1"/>
          <p:nvPr/>
        </p:nvSpPr>
        <p:spPr>
          <a:xfrm>
            <a:off x="7377379" y="3621024"/>
            <a:ext cx="186171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Report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50" dirty="0"/>
          </a:p>
        </p:txBody>
      </p:sp>
      <p:pic>
        <p:nvPicPr>
          <p:cNvPr id="44" name="Image 12" descr="/home/claude/sih_ppt/icons/arrowrigh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21394" y="3945636"/>
            <a:ext cx="201168" cy="201168"/>
          </a:xfrm>
          <a:prstGeom prst="rect">
            <a:avLst/>
          </a:prstGeom>
        </p:spPr>
      </p:pic>
      <p:sp>
        <p:nvSpPr>
          <p:cNvPr id="45" name="Shape 30"/>
          <p:cNvSpPr/>
          <p:nvPr/>
        </p:nvSpPr>
        <p:spPr>
          <a:xfrm>
            <a:off x="9275674" y="389991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6" name="Image 13" descr="/home/claude/sih_ppt/icons/arrowrigh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39682" y="3963924"/>
            <a:ext cx="164592" cy="164592"/>
          </a:xfrm>
          <a:prstGeom prst="rect">
            <a:avLst/>
          </a:prstGeom>
        </p:spPr>
      </p:pic>
      <p:sp>
        <p:nvSpPr>
          <p:cNvPr id="47" name="Shape 31"/>
          <p:cNvSpPr/>
          <p:nvPr/>
        </p:nvSpPr>
        <p:spPr>
          <a:xfrm>
            <a:off x="9549994" y="3566160"/>
            <a:ext cx="1971446" cy="960120"/>
          </a:xfrm>
          <a:prstGeom prst="roundRect">
            <a:avLst>
              <a:gd name="adj" fmla="val 7619"/>
            </a:avLst>
          </a:prstGeom>
          <a:solidFill>
            <a:srgbClr val="146F68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48" name="Text 32"/>
          <p:cNvSpPr txBox="1"/>
          <p:nvPr/>
        </p:nvSpPr>
        <p:spPr>
          <a:xfrm>
            <a:off x="9604858" y="3621024"/>
            <a:ext cx="186171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50" dirty="0"/>
          </a:p>
        </p:txBody>
      </p:sp>
      <p:sp>
        <p:nvSpPr>
          <p:cNvPr id="49" name="Shape 33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4F2EF"/>
          </a:solidFill>
          <a:ln/>
        </p:spPr>
      </p:sp>
      <p:sp>
        <p:nvSpPr>
          <p:cNvPr id="50" name="Text 34"/>
          <p:cNvSpPr txBox="1"/>
          <p:nvPr/>
        </p:nvSpPr>
        <p:spPr>
          <a:xfrm>
            <a:off x="868680" y="489204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intent: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is linear for the core clinical flow, while Hospital Services branches off as an independent, patient-facing area that never blocks or gets mixed into the AI case-taking path.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 Module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4892040"/>
        </p:xfrm>
        <a:graphic>
          <a:graphicData uri="http://schemas.openxmlformats.org/drawingml/2006/table">
            <a:tbl>
              <a:tblPr/>
              <a:tblGrid>
                <a:gridCol w="640080"/>
                <a:gridCol w="3108960"/>
                <a:gridCol w="7132320"/>
              </a:tblGrid>
              <a:tr h="4892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A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6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Registration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essential patient profile information.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6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Consultation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Voice-led case taking and structured AI patient report generation.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6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Report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generated and stored patient reports.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6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Center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Appointments, medicine reminders, report &amp; hospital notifications.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6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Profile &amp; Settings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account/profile information and preferences.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6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Multi-Language 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Hindi/English interface and voice-language support.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6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 &amp; 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Guidance, FAQs, support, feedback and issue reporting.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6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Services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Patient-facing appointments, pharmacy, lab and service info.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6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Admin Portal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Authorized administrative management and CRUD operations.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Modules Connect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31620" y="1915668"/>
            <a:ext cx="502920" cy="50292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0" name="Image 0" descr="/home/claude/sih_ppt/icons/user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2321" y="2036369"/>
            <a:ext cx="261518" cy="26151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2496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862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031236" y="232257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1" descr="/home/claude/sih_ppt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244" y="2386584"/>
            <a:ext cx="164592" cy="1645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29000" y="178308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20540" y="1915668"/>
            <a:ext cx="502920" cy="50292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7" name="Image 2" descr="/home/claude/sih_ppt/icons/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241" y="2036369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429000" y="2496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3429000" y="2862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Core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820156" y="232257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3" descr="/home/claude/sih_ppt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164" y="2386584"/>
            <a:ext cx="164592" cy="16459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217920" y="178308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109460" y="1915668"/>
            <a:ext cx="502920" cy="50292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4" name="Image 4" descr="/home/claude/sih_ppt/icons/file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0161" y="2036369"/>
            <a:ext cx="261518" cy="26151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217920" y="2496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Report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6217920" y="2862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3429000" y="3474720"/>
            <a:ext cx="2286000" cy="640080"/>
          </a:xfrm>
          <a:prstGeom prst="roundRect">
            <a:avLst>
              <a:gd name="adj" fmla="val 100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342900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Previous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Upload (OCR)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572000" y="3154680"/>
            <a:ext cx="0" cy="320040"/>
          </a:xfrm>
          <a:prstGeom prst="line">
            <a:avLst/>
          </a:prstGeom>
          <a:noFill/>
          <a:ln w="19050">
            <a:solidFill>
              <a:srgbClr val="C97F1E"/>
            </a:solidFill>
            <a:prstDash val="dash"/>
          </a:ln>
        </p:spPr>
      </p:sp>
      <p:sp>
        <p:nvSpPr>
          <p:cNvPr id="30" name="Text 23"/>
          <p:cNvSpPr txBox="1"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services — available across every module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0080" y="4160520"/>
            <a:ext cx="1760220" cy="868680"/>
          </a:xfrm>
          <a:prstGeom prst="roundRect">
            <a:avLst>
              <a:gd name="adj" fmla="val 7368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68096" y="4411980"/>
            <a:ext cx="365760" cy="365760"/>
          </a:xfrm>
          <a:prstGeom prst="ellipse">
            <a:avLst/>
          </a:prstGeom>
          <a:solidFill>
            <a:srgbClr val="146F68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3" name="Image 5" descr="/home/claude/sih_ppt/icons/be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78" y="4499762"/>
            <a:ext cx="190195" cy="19019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188720" y="4160520"/>
            <a:ext cx="11384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· M4</a:t>
            </a:r>
            <a:endParaRPr lang="en-US" sz="980" dirty="0"/>
          </a:p>
        </p:txBody>
      </p:sp>
      <p:sp>
        <p:nvSpPr>
          <p:cNvPr id="35" name="Shape 27"/>
          <p:cNvSpPr/>
          <p:nvPr/>
        </p:nvSpPr>
        <p:spPr>
          <a:xfrm>
            <a:off x="2674620" y="4160520"/>
            <a:ext cx="1760220" cy="868680"/>
          </a:xfrm>
          <a:prstGeom prst="roundRect">
            <a:avLst>
              <a:gd name="adj" fmla="val 7368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2802636" y="4411980"/>
            <a:ext cx="365760" cy="365760"/>
          </a:xfrm>
          <a:prstGeom prst="ellipse">
            <a:avLst/>
          </a:prstGeom>
          <a:solidFill>
            <a:srgbClr val="146F68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7" name="Image 6" descr="/home/claude/sih_ppt/icons/setting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0418" y="4499762"/>
            <a:ext cx="190195" cy="19019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3223260" y="4160520"/>
            <a:ext cx="11384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· M5</a:t>
            </a:r>
            <a:endParaRPr lang="en-US" sz="980" dirty="0"/>
          </a:p>
        </p:txBody>
      </p:sp>
      <p:sp>
        <p:nvSpPr>
          <p:cNvPr id="39" name="Shape 30"/>
          <p:cNvSpPr/>
          <p:nvPr/>
        </p:nvSpPr>
        <p:spPr>
          <a:xfrm>
            <a:off x="4709160" y="4160520"/>
            <a:ext cx="1760220" cy="868680"/>
          </a:xfrm>
          <a:prstGeom prst="roundRect">
            <a:avLst>
              <a:gd name="adj" fmla="val 7368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837176" y="4411980"/>
            <a:ext cx="365760" cy="365760"/>
          </a:xfrm>
          <a:prstGeom prst="ellipse">
            <a:avLst/>
          </a:prstGeom>
          <a:solidFill>
            <a:srgbClr val="146F68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41" name="Image 7" descr="/home/claude/sih_ppt/icons/glob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4958" y="4499762"/>
            <a:ext cx="190195" cy="190195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257800" y="4160520"/>
            <a:ext cx="11384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· M6</a:t>
            </a:r>
            <a:endParaRPr lang="en-US" sz="980" dirty="0"/>
          </a:p>
        </p:txBody>
      </p:sp>
      <p:sp>
        <p:nvSpPr>
          <p:cNvPr id="43" name="Shape 33"/>
          <p:cNvSpPr/>
          <p:nvPr/>
        </p:nvSpPr>
        <p:spPr>
          <a:xfrm>
            <a:off x="6743700" y="4160520"/>
            <a:ext cx="1760220" cy="868680"/>
          </a:xfrm>
          <a:prstGeom prst="roundRect">
            <a:avLst>
              <a:gd name="adj" fmla="val 7368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6871716" y="4411980"/>
            <a:ext cx="365760" cy="365760"/>
          </a:xfrm>
          <a:prstGeom prst="ellipse">
            <a:avLst/>
          </a:prstGeom>
          <a:solidFill>
            <a:srgbClr val="146F68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45" name="Image 8" descr="/home/claude/sih_ppt/icons/hel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9498" y="4499762"/>
            <a:ext cx="190195" cy="190195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7292340" y="4160520"/>
            <a:ext cx="11384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&amp;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· M7</a:t>
            </a:r>
            <a:endParaRPr lang="en-US" sz="980" dirty="0"/>
          </a:p>
        </p:txBody>
      </p:sp>
      <p:sp>
        <p:nvSpPr>
          <p:cNvPr id="47" name="Text 36"/>
          <p:cNvSpPr txBox="1"/>
          <p:nvPr/>
        </p:nvSpPr>
        <p:spPr>
          <a:xfrm>
            <a:off x="8732520" y="1554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branch</a:t>
            </a:r>
            <a:endParaRPr lang="en-US" sz="1150" dirty="0"/>
          </a:p>
        </p:txBody>
      </p:sp>
      <p:sp>
        <p:nvSpPr>
          <p:cNvPr id="48" name="Shape 37"/>
          <p:cNvSpPr/>
          <p:nvPr/>
        </p:nvSpPr>
        <p:spPr>
          <a:xfrm>
            <a:off x="8732520" y="1874520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0A4A47"/>
          </a:solidFill>
          <a:ln/>
        </p:spPr>
      </p:sp>
      <p:sp>
        <p:nvSpPr>
          <p:cNvPr id="49" name="Shape 38"/>
          <p:cNvSpPr/>
          <p:nvPr/>
        </p:nvSpPr>
        <p:spPr>
          <a:xfrm>
            <a:off x="9075420" y="2217420"/>
            <a:ext cx="502920" cy="50292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50" name="Image 9" descr="/home/claude/sih_ppt/icons/hospit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96121" y="2338121"/>
            <a:ext cx="261518" cy="261518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9646920" y="20939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Services</a:t>
            </a:r>
            <a:endParaRPr lang="en-US" sz="1200" dirty="0"/>
          </a:p>
        </p:txBody>
      </p:sp>
      <p:sp>
        <p:nvSpPr>
          <p:cNvPr id="52" name="Text 40"/>
          <p:cNvSpPr txBox="1"/>
          <p:nvPr/>
        </p:nvSpPr>
        <p:spPr>
          <a:xfrm>
            <a:off x="9646920" y="24780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patient-facing</a:t>
            </a:r>
            <a:endParaRPr lang="en-US" sz="900" dirty="0"/>
          </a:p>
        </p:txBody>
      </p:sp>
      <p:sp>
        <p:nvSpPr>
          <p:cNvPr id="53" name="Shape 41"/>
          <p:cNvSpPr/>
          <p:nvPr/>
        </p:nvSpPr>
        <p:spPr>
          <a:xfrm>
            <a:off x="8732520" y="3291840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0A4A47"/>
          </a:solidFill>
          <a:ln/>
        </p:spPr>
      </p:sp>
      <p:sp>
        <p:nvSpPr>
          <p:cNvPr id="54" name="Shape 42"/>
          <p:cNvSpPr/>
          <p:nvPr/>
        </p:nvSpPr>
        <p:spPr>
          <a:xfrm>
            <a:off x="9075420" y="3634740"/>
            <a:ext cx="502920" cy="50292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55" name="Image 10" descr="/home/claude/sih_ppt/icons/shiel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96121" y="3755441"/>
            <a:ext cx="261518" cy="261518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9646920" y="35112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 Portal</a:t>
            </a:r>
            <a:endParaRPr lang="en-US" sz="1200" dirty="0"/>
          </a:p>
        </p:txBody>
      </p:sp>
      <p:sp>
        <p:nvSpPr>
          <p:cNvPr id="57" name="Text 44"/>
          <p:cNvSpPr txBox="1"/>
          <p:nvPr/>
        </p:nvSpPr>
        <p:spPr>
          <a:xfrm>
            <a:off x="9646920" y="38953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authenticated</a:t>
            </a:r>
            <a:endParaRPr lang="en-US" sz="900" dirty="0"/>
          </a:p>
        </p:txBody>
      </p:sp>
      <p:sp>
        <p:nvSpPr>
          <p:cNvPr id="58" name="Shape 45"/>
          <p:cNvSpPr/>
          <p:nvPr/>
        </p:nvSpPr>
        <p:spPr>
          <a:xfrm>
            <a:off x="8732520" y="2468880"/>
            <a:ext cx="-137160" cy="0"/>
          </a:xfrm>
          <a:prstGeom prst="line">
            <a:avLst/>
          </a:prstGeom>
          <a:noFill/>
          <a:ln/>
        </p:spPr>
      </p:sp>
      <p:sp>
        <p:nvSpPr>
          <p:cNvPr id="59" name="Text 46"/>
          <p:cNvSpPr txBox="1"/>
          <p:nvPr/>
        </p:nvSpPr>
        <p:spPr>
          <a:xfrm>
            <a:off x="8732520" y="470916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from the dashboard; never blocks or feeds into AI Consultation</a:t>
            </a:r>
            <a:endParaRPr lang="en-US" sz="950" dirty="0"/>
          </a:p>
        </p:txBody>
      </p:sp>
      <p:sp>
        <p:nvSpPr>
          <p:cNvPr id="60" name="Shape 47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E4F2EF"/>
          </a:solidFill>
          <a:ln/>
        </p:spPr>
      </p:sp>
      <p:sp>
        <p:nvSpPr>
          <p:cNvPr id="61" name="Text 48"/>
          <p:cNvSpPr txBox="1"/>
          <p:nvPr/>
        </p:nvSpPr>
        <p:spPr>
          <a:xfrm>
            <a:off x="868680" y="52578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rule: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hands the patient profile to Module 2. Module 2 hands the confirmed report to Module 3. Modules 4–7 are cross-cutting services; Modules 8–9 form a separate, independently authenticated branch.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2528316" cy="1005840"/>
          </a:xfrm>
          <a:prstGeom prst="roundRect">
            <a:avLst>
              <a:gd name="adj" fmla="val 7273"/>
            </a:avLst>
          </a:prstGeom>
          <a:solidFill>
            <a:srgbClr val="146F68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94944" y="1792224"/>
            <a:ext cx="24185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250" dirty="0"/>
          </a:p>
        </p:txBody>
      </p:sp>
      <p:pic>
        <p:nvPicPr>
          <p:cNvPr id="10" name="Image 0" descr="/home/claude/sih_ppt/icons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5828" y="2139696"/>
            <a:ext cx="201168" cy="2011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150108" y="209397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/home/claude/sih_ppt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116" y="2157984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24428" y="1737360"/>
            <a:ext cx="2528316" cy="1005840"/>
          </a:xfrm>
          <a:prstGeom prst="roundRect">
            <a:avLst>
              <a:gd name="adj" fmla="val 7273"/>
            </a:avLst>
          </a:prstGeom>
          <a:solidFill>
            <a:srgbClr val="0F6E6A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3479292" y="1792224"/>
            <a:ext cx="24185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50" dirty="0"/>
          </a:p>
        </p:txBody>
      </p:sp>
      <p:pic>
        <p:nvPicPr>
          <p:cNvPr id="15" name="Image 2" descr="/home/claude/sih_ppt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2139696"/>
            <a:ext cx="201168" cy="2011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934456" y="209397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3" descr="/home/claude/sih_ppt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2157984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08776" y="1737360"/>
            <a:ext cx="2528316" cy="1005840"/>
          </a:xfrm>
          <a:prstGeom prst="roundRect">
            <a:avLst>
              <a:gd name="adj" fmla="val 7273"/>
            </a:avLst>
          </a:prstGeom>
          <a:solidFill>
            <a:srgbClr val="146F68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6263640" y="1792224"/>
            <a:ext cx="24185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50" dirty="0"/>
          </a:p>
        </p:txBody>
      </p:sp>
      <p:pic>
        <p:nvPicPr>
          <p:cNvPr id="20" name="Image 4" descr="/home/claude/sih_ppt/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4524" y="2139696"/>
            <a:ext cx="201168" cy="20116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8718804" y="209397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5" descr="/home/claude/sih_ppt/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2812" y="2157984"/>
            <a:ext cx="164592" cy="16459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993124" y="1737360"/>
            <a:ext cx="2528316" cy="1005840"/>
          </a:xfrm>
          <a:prstGeom prst="roundRect">
            <a:avLst>
              <a:gd name="adj" fmla="val 7273"/>
            </a:avLst>
          </a:prstGeom>
          <a:solidFill>
            <a:srgbClr val="0F6E6A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24" name="Text 16"/>
          <p:cNvSpPr txBox="1"/>
          <p:nvPr/>
        </p:nvSpPr>
        <p:spPr>
          <a:xfrm>
            <a:off x="9047988" y="1792224"/>
            <a:ext cx="24185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OCR</a:t>
            </a:r>
            <a:endParaRPr lang="en-US" sz="1250" dirty="0"/>
          </a:p>
        </p:txBody>
      </p:sp>
      <p:pic>
        <p:nvPicPr>
          <p:cNvPr id="25" name="Image 6" descr="/home/claude/sih_ppt/icons/arrowr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2880360"/>
            <a:ext cx="219456" cy="219456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640080" y="3246120"/>
            <a:ext cx="1971446" cy="1005840"/>
          </a:xfrm>
          <a:prstGeom prst="roundRect">
            <a:avLst>
              <a:gd name="adj" fmla="val 7273"/>
            </a:avLst>
          </a:prstGeom>
          <a:solidFill>
            <a:srgbClr val="0F6E6A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27" name="Text 18"/>
          <p:cNvSpPr txBox="1"/>
          <p:nvPr/>
        </p:nvSpPr>
        <p:spPr>
          <a:xfrm>
            <a:off x="694944" y="3300984"/>
            <a:ext cx="186171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Report</a:t>
            </a:r>
            <a:endParaRPr lang="en-US" sz="1150" dirty="0"/>
          </a:p>
        </p:txBody>
      </p:sp>
      <p:pic>
        <p:nvPicPr>
          <p:cNvPr id="28" name="Image 7" descr="/home/claude/sih_ppt/icons/arrowr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8958" y="3648456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2593238" y="360273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0" name="Image 8" descr="/home/claude/sih_ppt/icons/arrowr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7246" y="3666744"/>
            <a:ext cx="164592" cy="164592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2867558" y="3246120"/>
            <a:ext cx="1971446" cy="1005840"/>
          </a:xfrm>
          <a:prstGeom prst="roundRect">
            <a:avLst>
              <a:gd name="adj" fmla="val 7273"/>
            </a:avLst>
          </a:prstGeom>
          <a:solidFill>
            <a:srgbClr val="146F68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32" name="Text 21"/>
          <p:cNvSpPr txBox="1"/>
          <p:nvPr/>
        </p:nvSpPr>
        <p:spPr>
          <a:xfrm>
            <a:off x="2922422" y="3300984"/>
            <a:ext cx="186171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50" dirty="0"/>
          </a:p>
        </p:txBody>
      </p:sp>
      <p:pic>
        <p:nvPicPr>
          <p:cNvPr id="33" name="Image 9" descr="/home/claude/sih_ppt/icons/arrowrigh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6437" y="3648456"/>
            <a:ext cx="201168" cy="201168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4820717" y="360273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5" name="Image 10" descr="/home/claude/sih_ppt/icons/arrowrigh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84725" y="3666744"/>
            <a:ext cx="164592" cy="164592"/>
          </a:xfrm>
          <a:prstGeom prst="rect">
            <a:avLst/>
          </a:prstGeom>
        </p:spPr>
      </p:pic>
      <p:sp>
        <p:nvSpPr>
          <p:cNvPr id="36" name="Shape 23"/>
          <p:cNvSpPr/>
          <p:nvPr/>
        </p:nvSpPr>
        <p:spPr>
          <a:xfrm>
            <a:off x="5095037" y="3246120"/>
            <a:ext cx="1971446" cy="1005840"/>
          </a:xfrm>
          <a:prstGeom prst="roundRect">
            <a:avLst>
              <a:gd name="adj" fmla="val 7273"/>
            </a:avLst>
          </a:prstGeom>
          <a:solidFill>
            <a:srgbClr val="0F6E6A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37" name="Text 24"/>
          <p:cNvSpPr txBox="1"/>
          <p:nvPr/>
        </p:nvSpPr>
        <p:spPr>
          <a:xfrm>
            <a:off x="5149901" y="3300984"/>
            <a:ext cx="186171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50" dirty="0"/>
          </a:p>
        </p:txBody>
      </p:sp>
      <p:pic>
        <p:nvPicPr>
          <p:cNvPr id="38" name="Image 11" descr="/home/claude/sih_ppt/icons/arrowrigh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93915" y="3648456"/>
            <a:ext cx="201168" cy="201168"/>
          </a:xfrm>
          <a:prstGeom prst="rect">
            <a:avLst/>
          </a:prstGeom>
        </p:spPr>
      </p:pic>
      <p:sp>
        <p:nvSpPr>
          <p:cNvPr id="39" name="Shape 25"/>
          <p:cNvSpPr/>
          <p:nvPr/>
        </p:nvSpPr>
        <p:spPr>
          <a:xfrm>
            <a:off x="7048195" y="360273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0" name="Image 12" descr="/home/claude/sih_ppt/icons/arrowrigh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2203" y="3666744"/>
            <a:ext cx="164592" cy="164592"/>
          </a:xfrm>
          <a:prstGeom prst="rect">
            <a:avLst/>
          </a:prstGeom>
        </p:spPr>
      </p:pic>
      <p:sp>
        <p:nvSpPr>
          <p:cNvPr id="41" name="Shape 26"/>
          <p:cNvSpPr/>
          <p:nvPr/>
        </p:nvSpPr>
        <p:spPr>
          <a:xfrm>
            <a:off x="7322515" y="3246120"/>
            <a:ext cx="1971446" cy="1005840"/>
          </a:xfrm>
          <a:prstGeom prst="roundRect">
            <a:avLst>
              <a:gd name="adj" fmla="val 7273"/>
            </a:avLst>
          </a:prstGeom>
          <a:solidFill>
            <a:srgbClr val="146F68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42" name="Text 27"/>
          <p:cNvSpPr txBox="1"/>
          <p:nvPr/>
        </p:nvSpPr>
        <p:spPr>
          <a:xfrm>
            <a:off x="7377379" y="3300984"/>
            <a:ext cx="186171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50" dirty="0"/>
          </a:p>
        </p:txBody>
      </p:sp>
      <p:pic>
        <p:nvPicPr>
          <p:cNvPr id="43" name="Image 13" descr="/home/claude/sih_ppt/icons/arrowrigh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21394" y="3648456"/>
            <a:ext cx="201168" cy="201168"/>
          </a:xfrm>
          <a:prstGeom prst="rect">
            <a:avLst/>
          </a:prstGeom>
        </p:spPr>
      </p:pic>
      <p:sp>
        <p:nvSpPr>
          <p:cNvPr id="44" name="Shape 28"/>
          <p:cNvSpPr/>
          <p:nvPr/>
        </p:nvSpPr>
        <p:spPr>
          <a:xfrm>
            <a:off x="9275674" y="360273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5" name="Image 14" descr="/home/claude/sih_ppt/icons/arrowrigh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39682" y="3666744"/>
            <a:ext cx="164592" cy="164592"/>
          </a:xfrm>
          <a:prstGeom prst="rect">
            <a:avLst/>
          </a:prstGeom>
        </p:spPr>
      </p:pic>
      <p:sp>
        <p:nvSpPr>
          <p:cNvPr id="46" name="Shape 29"/>
          <p:cNvSpPr/>
          <p:nvPr/>
        </p:nvSpPr>
        <p:spPr>
          <a:xfrm>
            <a:off x="9549994" y="3246120"/>
            <a:ext cx="1971446" cy="1005840"/>
          </a:xfrm>
          <a:prstGeom prst="roundRect">
            <a:avLst>
              <a:gd name="adj" fmla="val 7273"/>
            </a:avLst>
          </a:prstGeom>
          <a:solidFill>
            <a:srgbClr val="0F6E6A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47" name="Text 30"/>
          <p:cNvSpPr txBox="1"/>
          <p:nvPr/>
        </p:nvSpPr>
        <p:spPr>
          <a:xfrm>
            <a:off x="9604858" y="3300984"/>
            <a:ext cx="186171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Use</a:t>
            </a:r>
            <a:endParaRPr lang="en-US" sz="1150" dirty="0"/>
          </a:p>
        </p:txBody>
      </p:sp>
      <p:sp>
        <p:nvSpPr>
          <p:cNvPr id="48" name="Shape 31"/>
          <p:cNvSpPr/>
          <p:nvPr/>
        </p:nvSpPr>
        <p:spPr>
          <a:xfrm>
            <a:off x="640080" y="4617720"/>
            <a:ext cx="3474720" cy="1417320"/>
          </a:xfrm>
          <a:prstGeom prst="roundRect">
            <a:avLst>
              <a:gd name="adj" fmla="val 4516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49" name="Shape 32"/>
          <p:cNvSpPr/>
          <p:nvPr/>
        </p:nvSpPr>
        <p:spPr>
          <a:xfrm>
            <a:off x="786384" y="4764024"/>
            <a:ext cx="411480" cy="41148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50" name="Image 15" descr="/home/claude/sih_ppt/icons/lock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5139" y="4862779"/>
            <a:ext cx="213970" cy="213970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1325880" y="470916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Consent-first</a:t>
            </a:r>
            <a:endParaRPr lang="en-US" sz="1200" dirty="0"/>
          </a:p>
        </p:txBody>
      </p:sp>
      <p:sp>
        <p:nvSpPr>
          <p:cNvPr id="52" name="Text 34"/>
          <p:cNvSpPr txBox="1"/>
          <p:nvPr/>
        </p:nvSpPr>
        <p:spPr>
          <a:xfrm>
            <a:off x="786384" y="5248656"/>
            <a:ext cx="3182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ABDM privacy expectations</a:t>
            </a:r>
            <a:endParaRPr lang="en-US" sz="1050" dirty="0"/>
          </a:p>
        </p:txBody>
      </p:sp>
      <p:sp>
        <p:nvSpPr>
          <p:cNvPr id="53" name="Shape 35"/>
          <p:cNvSpPr/>
          <p:nvPr/>
        </p:nvSpPr>
        <p:spPr>
          <a:xfrm>
            <a:off x="4343400" y="4617720"/>
            <a:ext cx="3474720" cy="1417320"/>
          </a:xfrm>
          <a:prstGeom prst="roundRect">
            <a:avLst>
              <a:gd name="adj" fmla="val 4516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54" name="Shape 36"/>
          <p:cNvSpPr/>
          <p:nvPr/>
        </p:nvSpPr>
        <p:spPr>
          <a:xfrm>
            <a:off x="4489704" y="4764024"/>
            <a:ext cx="411480" cy="41148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55" name="Image 16" descr="/home/claude/sih_ppt/icons/checkcircl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88459" y="4862779"/>
            <a:ext cx="213970" cy="213970"/>
          </a:xfrm>
          <a:prstGeom prst="rect">
            <a:avLst/>
          </a:prstGeom>
        </p:spPr>
      </p:pic>
      <p:sp>
        <p:nvSpPr>
          <p:cNvPr id="56" name="Text 37"/>
          <p:cNvSpPr txBox="1"/>
          <p:nvPr/>
        </p:nvSpPr>
        <p:spPr>
          <a:xfrm>
            <a:off x="5029200" y="470916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</a:t>
            </a:r>
            <a:endParaRPr lang="en-US" sz="1200" dirty="0"/>
          </a:p>
        </p:txBody>
      </p:sp>
      <p:sp>
        <p:nvSpPr>
          <p:cNvPr id="57" name="Text 38"/>
          <p:cNvSpPr txBox="1"/>
          <p:nvPr/>
        </p:nvSpPr>
        <p:spPr>
          <a:xfrm>
            <a:off x="4489704" y="5248656"/>
            <a:ext cx="3182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reviews &amp; corrects before confirming</a:t>
            </a:r>
            <a:endParaRPr lang="en-US" sz="1050" dirty="0"/>
          </a:p>
        </p:txBody>
      </p:sp>
      <p:sp>
        <p:nvSpPr>
          <p:cNvPr id="58" name="Shape 39"/>
          <p:cNvSpPr/>
          <p:nvPr/>
        </p:nvSpPr>
        <p:spPr>
          <a:xfrm>
            <a:off x="8046720" y="4617720"/>
            <a:ext cx="3474720" cy="1417320"/>
          </a:xfrm>
          <a:prstGeom prst="roundRect">
            <a:avLst>
              <a:gd name="adj" fmla="val 4516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59" name="Shape 40"/>
          <p:cNvSpPr/>
          <p:nvPr/>
        </p:nvSpPr>
        <p:spPr>
          <a:xfrm>
            <a:off x="8193024" y="4764024"/>
            <a:ext cx="411480" cy="41148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60" name="Image 17" descr="/home/claude/sih_ppt/icons/shiel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91779" y="4862779"/>
            <a:ext cx="213970" cy="213970"/>
          </a:xfrm>
          <a:prstGeom prst="rect">
            <a:avLst/>
          </a:prstGeom>
        </p:spPr>
      </p:pic>
      <p:sp>
        <p:nvSpPr>
          <p:cNvPr id="61" name="Text 41"/>
          <p:cNvSpPr txBox="1"/>
          <p:nvPr/>
        </p:nvSpPr>
        <p:spPr>
          <a:xfrm>
            <a:off x="8732520" y="470916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auto-diagnosis</a:t>
            </a:r>
            <a:endParaRPr lang="en-US" sz="1200" dirty="0"/>
          </a:p>
        </p:txBody>
      </p:sp>
      <p:sp>
        <p:nvSpPr>
          <p:cNvPr id="62" name="Text 42"/>
          <p:cNvSpPr txBox="1"/>
          <p:nvPr/>
        </p:nvSpPr>
        <p:spPr>
          <a:xfrm>
            <a:off x="8193024" y="5248656"/>
            <a:ext cx="3182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makes the final call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4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Registration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essential patient profile information needed to establish a usable hospital record — without making onboarding unnecessarily long.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0" y="2331720"/>
            <a:ext cx="2103120" cy="21031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8" name="Image 0" descr="/home/claude/sih_ppt/icons/user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8749" y="2836469"/>
            <a:ext cx="1093622" cy="109362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006840" y="2194560"/>
            <a:ext cx="2377440" cy="2377440"/>
          </a:xfrm>
          <a:prstGeom prst="ellipse">
            <a:avLst/>
          </a:prstGeom>
          <a:ln w="25400">
            <a:solidFill>
              <a:srgbClr val="E8A33D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PATIENT REGISTRATION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Design Principle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Patient Registration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0020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0F6E6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856232"/>
            <a:ext cx="5257800" cy="201168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16002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203704"/>
            <a:ext cx="487375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clinical-profile module after account access.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only the essential patient information required to identify the patient.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a usable hospital record without a lengthy onboarding process.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60020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C97F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1856232"/>
            <a:ext cx="5349240" cy="201168"/>
          </a:xfrm>
          <a:prstGeom prst="rect">
            <a:avLst/>
          </a:prstGeom>
          <a:solidFill>
            <a:srgbClr val="C97F1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73368" y="16002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2203704"/>
            <a:ext cx="49651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stays simple — no long medical form.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clinical history is intentionally NOT collected here.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Consultation module collects history conversationally instead.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focuses on stable demographic &amp; baseline information only.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PATIENT REGISTRATION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 Registration Fields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Patient Registration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4892040"/>
        </p:xfrm>
        <a:graphic>
          <a:graphicData uri="http://schemas.openxmlformats.org/drawingml/2006/table">
            <a:tbl>
              <a:tblPr/>
              <a:tblGrid>
                <a:gridCol w="502920"/>
                <a:gridCol w="2377440"/>
                <a:gridCol w="1554480"/>
                <a:gridCol w="6355080"/>
              </a:tblGrid>
              <a:tr h="4453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A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patient identification.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Birth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to derive age and clinical context.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demographic information.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contact and communication.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Address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communication and account reference.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residential/contact information.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Captured only when known by the patient.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physical information.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physical information.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Diseases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selection: diabetes, BP, asthma or none.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PATIENT REGISTRATION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Patient Registration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691640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9" name="Image 0" descr="/home/claude/sih_ppt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01368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24128" y="1608430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4128" y="160843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207008" y="1554480"/>
            <a:ext cx="10314432" cy="731520"/>
          </a:xfrm>
          <a:prstGeom prst="roundRect">
            <a:avLst>
              <a:gd name="adj" fmla="val 75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371600" y="15544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opens Patient Registration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192024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right after account access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67512" y="2478024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6" name="Image 1" descr="/home/claude/sih_ppt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87752"/>
            <a:ext cx="237744" cy="23774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24128" y="2394814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24128" y="239481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207008" y="2340864"/>
            <a:ext cx="10314432" cy="731520"/>
          </a:xfrm>
          <a:prstGeom prst="roundRect">
            <a:avLst>
              <a:gd name="adj" fmla="val 75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371600" y="234086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form with approved fields is shown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1371600" y="270662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labels, minimal clutter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67512" y="3264408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3" name="Image 2" descr="/home/claude/sih_ppt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74136"/>
            <a:ext cx="237744" cy="237744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024128" y="3181198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1024128" y="318119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1207008" y="3127248"/>
            <a:ext cx="10314432" cy="731520"/>
          </a:xfrm>
          <a:prstGeom prst="roundRect">
            <a:avLst>
              <a:gd name="adj" fmla="val 75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1371600" y="31272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completes required fields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1371600" y="349300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 remains optional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67512" y="4050792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0" name="Image 3" descr="/home/claude/sih_ppt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60520"/>
            <a:ext cx="237744" cy="237744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1024128" y="3967582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1024128" y="396758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1207008" y="3913632"/>
            <a:ext cx="10314432" cy="731520"/>
          </a:xfrm>
          <a:prstGeom prst="roundRect">
            <a:avLst>
              <a:gd name="adj" fmla="val 75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1371600" y="39136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validates fields &amp; input formats</a:t>
            </a:r>
            <a:endParaRPr lang="en-US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1371600" y="427939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mobile number, mandatory checks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667512" y="4837176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7" name="Image 4" descr="/home/claude/sih_ppt/icons/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946904"/>
            <a:ext cx="237744" cy="237744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1024128" y="4753966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1024128" y="475396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1207008" y="4700016"/>
            <a:ext cx="10314432" cy="731520"/>
          </a:xfrm>
          <a:prstGeom prst="roundRect">
            <a:avLst>
              <a:gd name="adj" fmla="val 75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1371600" y="47000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presses Submit</a:t>
            </a:r>
            <a:endParaRPr lang="en-US" sz="1250" dirty="0"/>
          </a:p>
        </p:txBody>
      </p:sp>
      <p:sp>
        <p:nvSpPr>
          <p:cNvPr id="42" name="Shape 35"/>
          <p:cNvSpPr/>
          <p:nvPr/>
        </p:nvSpPr>
        <p:spPr>
          <a:xfrm>
            <a:off x="667512" y="5623560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43" name="Image 5" descr="/home/claude/sih_ppt/icons/check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33288"/>
            <a:ext cx="237744" cy="237744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1024128" y="5540350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1024128" y="554035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1207008" y="5486400"/>
            <a:ext cx="10314432" cy="731520"/>
          </a:xfrm>
          <a:prstGeom prst="roundRect">
            <a:avLst>
              <a:gd name="adj" fmla="val 75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1371600" y="54864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stored &amp; available to later modules</a:t>
            </a:r>
            <a:endParaRPr lang="en-US" sz="1250" dirty="0"/>
          </a:p>
        </p:txBody>
      </p:sp>
      <p:sp>
        <p:nvSpPr>
          <p:cNvPr id="48" name="Text 40"/>
          <p:cNvSpPr txBox="1"/>
          <p:nvPr/>
        </p:nvSpPr>
        <p:spPr>
          <a:xfrm>
            <a:off x="1371600" y="58521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later via My Profile &amp; Settings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PATIENT REGISTRATION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Requirements &amp;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Patient Registration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0020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0F6E6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856232"/>
            <a:ext cx="5257800" cy="201168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16002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Requirements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203704"/>
            <a:ext cx="487375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readable labels and clear input fields.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required / optional indicators.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visual clutter, prominent Submit button.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photo is NOT part of this form — it belongs to the profile area.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60020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C97F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1856232"/>
            <a:ext cx="5349240" cy="201168"/>
          </a:xfrm>
          <a:prstGeom prst="rect">
            <a:avLst/>
          </a:prstGeom>
          <a:solidFill>
            <a:srgbClr val="C97F1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73368" y="16002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Edge Cases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2203704"/>
            <a:ext cx="49651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submission when mandatory fields are empty.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email and mobile-number formats.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duplicate patient records for the same account.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Blood Group to remain empty when unknown.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Diseases control must support a clear “None”.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4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Consultation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module — conducts a natural patient interview, captures the current problem and history, and converts it into a structured, physician-ready report.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0" y="2331720"/>
            <a:ext cx="2103120" cy="21031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8" name="Image 0" descr="/home/claude/sih_ppt/icons/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8749" y="2836469"/>
            <a:ext cx="1093622" cy="109362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006840" y="2194560"/>
            <a:ext cx="2377440" cy="2377440"/>
          </a:xfrm>
          <a:prstGeom prst="ellipse">
            <a:avLst/>
          </a:prstGeom>
          <a:ln w="25400">
            <a:solidFill>
              <a:srgbClr val="E8A33D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AI CONSULTATION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AI Consultation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a natural patient interview about the current problem and relevant history.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incorporates previous medical documents into the picture.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collected conversation into a structured patient report.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6309360" cy="2148840"/>
          </a:xfrm>
          <a:prstGeom prst="roundRect">
            <a:avLst>
              <a:gd name="adj" fmla="val 3404"/>
            </a:avLst>
          </a:prstGeom>
          <a:solidFill>
            <a:srgbClr val="0A4A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1605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Boundaries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526280"/>
            <a:ext cx="5852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dynamically ask follow-up questions based on what the patient says.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pretend to measure physical signs that were never provided.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issue a final autonomous diagnosis.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23760" y="1691640"/>
            <a:ext cx="4297680" cy="1344168"/>
          </a:xfrm>
          <a:prstGeom prst="roundRect">
            <a:avLst>
              <a:gd name="adj" fmla="val 4762"/>
            </a:avLst>
          </a:prstGeom>
          <a:solidFill>
            <a:srgbClr val="E4F2EF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70064" y="1837944"/>
            <a:ext cx="548640" cy="54864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4" name="Image 0" descr="/home/claude/sih_ppt/icons/message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1738" y="1969618"/>
            <a:ext cx="285293" cy="285293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046720" y="1783080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2.1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370064" y="2459736"/>
            <a:ext cx="4005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223760" y="3236976"/>
            <a:ext cx="4297680" cy="1344168"/>
          </a:xfrm>
          <a:prstGeom prst="roundRect">
            <a:avLst>
              <a:gd name="adj" fmla="val 4762"/>
            </a:avLst>
          </a:prstGeom>
          <a:solidFill>
            <a:srgbClr val="E4F2EF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70064" y="3383280"/>
            <a:ext cx="548640" cy="54864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9" name="Image 1" descr="/home/claude/sih_ppt/icons/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738" y="3514954"/>
            <a:ext cx="285293" cy="285293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046720" y="3328416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2.2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370064" y="4005072"/>
            <a:ext cx="4005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Patient Report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223760" y="4782312"/>
            <a:ext cx="4297680" cy="1344168"/>
          </a:xfrm>
          <a:prstGeom prst="roundRect">
            <a:avLst>
              <a:gd name="adj" fmla="val 4762"/>
            </a:avLst>
          </a:prstGeom>
          <a:solidFill>
            <a:srgbClr val="E4F2EF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70064" y="4928616"/>
            <a:ext cx="548640" cy="54864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4" name="Image 2" descr="/home/claude/sih_ppt/icons/booko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738" y="5060290"/>
            <a:ext cx="285293" cy="285293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046720" y="4873752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2.3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7370064" y="5550408"/>
            <a:ext cx="4005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Consultation Guide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AI CONSULTATION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Assistant — Conversation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AI Consultation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568196"/>
            <a:ext cx="457200" cy="457200"/>
          </a:xfrm>
          <a:prstGeom prst="ellipse">
            <a:avLst/>
          </a:prstGeom>
          <a:solidFill>
            <a:srgbClr val="146F68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9" name="Image 0" descr="/home/claude/sih_ppt/icons/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7924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24128" y="1484986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4128" y="148498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207008" y="1508760"/>
            <a:ext cx="10314432" cy="576072"/>
          </a:xfrm>
          <a:prstGeom prst="roundRect">
            <a:avLst>
              <a:gd name="adj" fmla="val 9524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371600" y="1508760"/>
            <a:ext cx="99669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greeting &amp; language confirmation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1796796"/>
            <a:ext cx="9966960" cy="25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or English, per preference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67512" y="2180844"/>
            <a:ext cx="457200" cy="457200"/>
          </a:xfrm>
          <a:prstGeom prst="ellipse">
            <a:avLst/>
          </a:prstGeom>
          <a:solidFill>
            <a:srgbClr val="146F68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6" name="Image 1" descr="/home/claude/sih_ppt/icons/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90572"/>
            <a:ext cx="237744" cy="23774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24128" y="2097634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24128" y="209763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207008" y="2121408"/>
            <a:ext cx="10314432" cy="576072"/>
          </a:xfrm>
          <a:prstGeom prst="roundRect">
            <a:avLst>
              <a:gd name="adj" fmla="val 9524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371600" y="2121408"/>
            <a:ext cx="99669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chief-complaint question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1371600" y="2409444"/>
            <a:ext cx="9966960" cy="25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problem are you facing today?”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667512" y="2793492"/>
            <a:ext cx="457200" cy="457200"/>
          </a:xfrm>
          <a:prstGeom prst="ellipse">
            <a:avLst/>
          </a:prstGeom>
          <a:solidFill>
            <a:srgbClr val="146F68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3" name="Image 2" descr="/home/claude/sih_ppt/icons/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03220"/>
            <a:ext cx="237744" cy="237744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024128" y="2710282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1024128" y="271028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1207008" y="2734056"/>
            <a:ext cx="10314432" cy="576072"/>
          </a:xfrm>
          <a:prstGeom prst="roundRect">
            <a:avLst>
              <a:gd name="adj" fmla="val 9524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1371600" y="2734056"/>
            <a:ext cx="99669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explains the problem naturally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1371600" y="3022092"/>
            <a:ext cx="9966960" cy="25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their own words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667512" y="3406140"/>
            <a:ext cx="457200" cy="457200"/>
          </a:xfrm>
          <a:prstGeom prst="ellipse">
            <a:avLst/>
          </a:prstGeom>
          <a:solidFill>
            <a:srgbClr val="146F68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0" name="Image 3" descr="/home/claude/sih_ppt/icons/m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15868"/>
            <a:ext cx="237744" cy="237744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1024128" y="3322930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1024128" y="332293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1207008" y="3346704"/>
            <a:ext cx="10314432" cy="576072"/>
          </a:xfrm>
          <a:prstGeom prst="roundRect">
            <a:avLst>
              <a:gd name="adj" fmla="val 9524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1371600" y="3346704"/>
            <a:ext cx="99669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asks relevant follow-up questions</a:t>
            </a:r>
            <a:endParaRPr lang="en-US" sz="1150" dirty="0"/>
          </a:p>
        </p:txBody>
      </p:sp>
      <p:sp>
        <p:nvSpPr>
          <p:cNvPr id="35" name="Text 29"/>
          <p:cNvSpPr txBox="1"/>
          <p:nvPr/>
        </p:nvSpPr>
        <p:spPr>
          <a:xfrm>
            <a:off x="1371600" y="3634740"/>
            <a:ext cx="9966960" cy="25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based on the patient's own answers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667512" y="4018788"/>
            <a:ext cx="457200" cy="457200"/>
          </a:xfrm>
          <a:prstGeom prst="ellipse">
            <a:avLst/>
          </a:prstGeom>
          <a:solidFill>
            <a:srgbClr val="146F68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7" name="Image 4" descr="/home/claude/sih_ppt/icons/mi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28516"/>
            <a:ext cx="237744" cy="237744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1024128" y="3935578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1024128" y="39355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1207008" y="3959352"/>
            <a:ext cx="10314432" cy="576072"/>
          </a:xfrm>
          <a:prstGeom prst="roundRect">
            <a:avLst>
              <a:gd name="adj" fmla="val 9524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1371600" y="3959352"/>
            <a:ext cx="9966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onset, duration, severity, related symptoms, medicines taken &amp; response</a:t>
            </a:r>
            <a:endParaRPr lang="en-US" sz="1150" dirty="0"/>
          </a:p>
        </p:txBody>
      </p:sp>
      <p:sp>
        <p:nvSpPr>
          <p:cNvPr id="42" name="Shape 35"/>
          <p:cNvSpPr/>
          <p:nvPr/>
        </p:nvSpPr>
        <p:spPr>
          <a:xfrm>
            <a:off x="667512" y="4631436"/>
            <a:ext cx="457200" cy="457200"/>
          </a:xfrm>
          <a:prstGeom prst="ellipse">
            <a:avLst/>
          </a:prstGeom>
          <a:solidFill>
            <a:srgbClr val="146F68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43" name="Image 5" descr="/home/claude/sih_ppt/icons/mi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741164"/>
            <a:ext cx="237744" cy="237744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1024128" y="4548226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1024128" y="454822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1207008" y="4572000"/>
            <a:ext cx="10314432" cy="576072"/>
          </a:xfrm>
          <a:prstGeom prst="roundRect">
            <a:avLst>
              <a:gd name="adj" fmla="val 9524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1371600" y="4572000"/>
            <a:ext cx="9966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continues until history is sufficiently complete</a:t>
            </a:r>
            <a:endParaRPr lang="en-US" sz="1150" dirty="0"/>
          </a:p>
        </p:txBody>
      </p:sp>
      <p:sp>
        <p:nvSpPr>
          <p:cNvPr id="48" name="Shape 40"/>
          <p:cNvSpPr/>
          <p:nvPr/>
        </p:nvSpPr>
        <p:spPr>
          <a:xfrm>
            <a:off x="667512" y="5244084"/>
            <a:ext cx="457200" cy="457200"/>
          </a:xfrm>
          <a:prstGeom prst="ellipse">
            <a:avLst/>
          </a:prstGeom>
          <a:solidFill>
            <a:srgbClr val="146F68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49" name="Image 6" descr="/home/claude/sih_ppt/icons/mi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353812"/>
            <a:ext cx="237744" cy="237744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1024128" y="5160874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1024128" y="516087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1207008" y="5184648"/>
            <a:ext cx="10314432" cy="576072"/>
          </a:xfrm>
          <a:prstGeom prst="roundRect">
            <a:avLst>
              <a:gd name="adj" fmla="val 9524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1371600" y="5184648"/>
            <a:ext cx="9966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previous-report upload before submission</a:t>
            </a:r>
            <a:endParaRPr lang="en-US" sz="1150" dirty="0"/>
          </a:p>
        </p:txBody>
      </p:sp>
      <p:sp>
        <p:nvSpPr>
          <p:cNvPr id="54" name="Shape 45"/>
          <p:cNvSpPr/>
          <p:nvPr/>
        </p:nvSpPr>
        <p:spPr>
          <a:xfrm>
            <a:off x="667512" y="5856732"/>
            <a:ext cx="457200" cy="457200"/>
          </a:xfrm>
          <a:prstGeom prst="ellipse">
            <a:avLst/>
          </a:prstGeom>
          <a:solidFill>
            <a:srgbClr val="C97F1E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55" name="Image 7" descr="/home/claude/sih_ppt/icons/mi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966460"/>
            <a:ext cx="237744" cy="237744"/>
          </a:xfrm>
          <a:prstGeom prst="rect">
            <a:avLst/>
          </a:prstGeom>
        </p:spPr>
      </p:pic>
      <p:sp>
        <p:nvSpPr>
          <p:cNvPr id="56" name="Shape 46"/>
          <p:cNvSpPr/>
          <p:nvPr/>
        </p:nvSpPr>
        <p:spPr>
          <a:xfrm>
            <a:off x="1024128" y="5773522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1024128" y="577352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>
            <a:off x="1207008" y="5797296"/>
            <a:ext cx="10314432" cy="576072"/>
          </a:xfrm>
          <a:prstGeom prst="roundRect">
            <a:avLst>
              <a:gd name="adj" fmla="val 9524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1371600" y="5797296"/>
            <a:ext cx="9966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presses Submit to end the conversation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AI CONSULTATION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Report Upload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AI Consultation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0020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0F6E6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856232"/>
            <a:ext cx="5257800" cy="201168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16002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Be Uploaded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203704"/>
            <a:ext cx="487375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optional "Upload Previous Report" control near the submission stage.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prescriptions, lab reports or discharge summaries.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printed and handwritten documents.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multilingual medical content.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94192" y="1874520"/>
            <a:ext cx="914400" cy="914400"/>
          </a:xfrm>
          <a:prstGeom prst="ellipse">
            <a:avLst/>
          </a:prstGeom>
          <a:solidFill>
            <a:srgbClr val="C97F1E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5" name="Image 0" descr="/home/claude/sih_ppt/icons/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48" y="2093976"/>
            <a:ext cx="475488" cy="47548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00800" y="2926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Document Intelligence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33375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uploaded document into usable clinical data before it contributes to the AI Patient Report.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537960" y="4251960"/>
            <a:ext cx="4663440" cy="0"/>
          </a:xfrm>
          <a:prstGeom prst="line">
            <a:avLst/>
          </a:prstGeom>
          <a:noFill/>
          <a:ln w="12700">
            <a:solidFill>
              <a:srgbClr val="D3E7E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37960" y="44348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report — never silently becomes an autonomous diagnosis.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AI CONSULTATION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Intelligence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AI Consultation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3474720" cy="2208276"/>
          </a:xfrm>
          <a:prstGeom prst="roundRect">
            <a:avLst>
              <a:gd name="adj" fmla="val 2899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746504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0" name="Image 0" descr="/home/claude/sih_ppt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5623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71600" y="169164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 OCR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86384" y="2276856"/>
            <a:ext cx="3182112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printed medical documents.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43400" y="1600200"/>
            <a:ext cx="3474720" cy="2208276"/>
          </a:xfrm>
          <a:prstGeom prst="roundRect">
            <a:avLst>
              <a:gd name="adj" fmla="val 2899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9704" y="1746504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5" name="Image 1" descr="/home/claude/sih_ppt/icons/e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856232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074920" y="169164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Reading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489704" y="2276856"/>
            <a:ext cx="3182112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medical documents, where feasible.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46720" y="1600200"/>
            <a:ext cx="3474720" cy="2208276"/>
          </a:xfrm>
          <a:prstGeom prst="roundRect">
            <a:avLst>
              <a:gd name="adj" fmla="val 2899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93024" y="1746504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0" name="Image 2" descr="/home/claude/sih_ppt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856232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778240" y="169164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Handling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193024" y="2276856"/>
            <a:ext cx="3182112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 multiple languages.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4009644"/>
            <a:ext cx="3474720" cy="2208276"/>
          </a:xfrm>
          <a:prstGeom prst="roundRect">
            <a:avLst>
              <a:gd name="adj" fmla="val 2899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86384" y="4155948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5" name="Image 3" descr="/home/claude/sih_ppt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265676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10108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86384" y="4686300"/>
            <a:ext cx="3182112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Medicines, prior diagnoses, investigation values, procedures/surgery history.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43400" y="4009644"/>
            <a:ext cx="3474720" cy="2208276"/>
          </a:xfrm>
          <a:prstGeom prst="roundRect">
            <a:avLst>
              <a:gd name="adj" fmla="val 2899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489704" y="4155948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0" name="Image 4" descr="/home/claude/sih_ppt/icons/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265676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074920" y="410108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Use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4489704" y="4686300"/>
            <a:ext cx="3182112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information ordered by date, when available.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8046720" y="4009644"/>
            <a:ext cx="3474720" cy="2208276"/>
          </a:xfrm>
          <a:prstGeom prst="roundRect">
            <a:avLst>
              <a:gd name="adj" fmla="val 2899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193024" y="4155948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5" name="Image 5" descr="/home/claude/sih_ppt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4265676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778240" y="410108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 Only</a:t>
            </a:r>
            <a:endParaRPr lang="en-US" sz="1250" dirty="0"/>
          </a:p>
        </p:txBody>
      </p:sp>
      <p:sp>
        <p:nvSpPr>
          <p:cNvPr id="37" name="Text 29"/>
          <p:cNvSpPr txBox="1"/>
          <p:nvPr/>
        </p:nvSpPr>
        <p:spPr>
          <a:xfrm>
            <a:off x="8193024" y="4686300"/>
            <a:ext cx="3182112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report; never becomes an autonomous diagnosis by itself.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AI CONSULTATION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Patient Report —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AI Consultation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6492240" cy="4572000"/>
          </a:xfrm>
          <a:prstGeom prst="roundRect">
            <a:avLst>
              <a:gd name="adj" fmla="val 16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00200"/>
            <a:ext cx="6492240" cy="457200"/>
          </a:xfrm>
          <a:prstGeom prst="roundRect">
            <a:avLst>
              <a:gd name="adj" fmla="val 16000"/>
            </a:avLst>
          </a:prstGeom>
          <a:solidFill>
            <a:srgbClr val="0F6E6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856232"/>
            <a:ext cx="6492240" cy="201168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16002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Contents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203704"/>
            <a:ext cx="61081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identification and basic profile context.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complaint.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present illness / current problem narrative.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past history collected during the conversation.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 already taken and patient-reported response.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allergies / drug history when captured.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information extracted from uploaded previous documents.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patient report summary for rapid physician reading.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160020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0A4A47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0" y="1965960"/>
            <a:ext cx="914400" cy="91440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5" name="Image 0" descr="/home/claude/sih_ppt/icons/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76" y="2185416"/>
            <a:ext cx="475488" cy="47548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543800" y="3017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Physician-Ready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7635240" y="34747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is generated only after the patient submits the conversation, combining the dialogue and any uploaded documents into one structured draft.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80960" y="5029200"/>
            <a:ext cx="3474720" cy="0"/>
          </a:xfrm>
          <a:prstGeom prst="line">
            <a:avLst/>
          </a:prstGeom>
          <a:noFill/>
          <a:ln w="12700">
            <a:solidFill>
              <a:srgbClr val="2E5F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35240" y="5166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final diagnosis — a clinical-history draft.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AI CONSULTATION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Review, Edit, Confirmation &amp; Physician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AI Consultation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2528316" cy="1234440"/>
          </a:xfrm>
          <a:prstGeom prst="roundRect">
            <a:avLst>
              <a:gd name="adj" fmla="val 5926"/>
            </a:avLst>
          </a:prstGeom>
          <a:solidFill>
            <a:srgbClr val="0F6E6A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94944" y="1746504"/>
            <a:ext cx="241858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370582"/>
            <a:ext cx="24185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reviews the generated report</a:t>
            </a:r>
            <a:endParaRPr lang="en-US" sz="1150" dirty="0"/>
          </a:p>
        </p:txBody>
      </p:sp>
      <p:pic>
        <p:nvPicPr>
          <p:cNvPr id="11" name="Image 0" descr="/home/claude/sih_ppt/icons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5828" y="2208276"/>
            <a:ext cx="201168" cy="2011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150108" y="216255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1" descr="/home/claude/sih_ppt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116" y="2226564"/>
            <a:ext cx="164592" cy="1645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24428" y="1691640"/>
            <a:ext cx="2528316" cy="1234440"/>
          </a:xfrm>
          <a:prstGeom prst="roundRect">
            <a:avLst>
              <a:gd name="adj" fmla="val 5926"/>
            </a:avLst>
          </a:prstGeom>
          <a:solidFill>
            <a:srgbClr val="146F68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3479292" y="1746504"/>
            <a:ext cx="241858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479292" y="2370582"/>
            <a:ext cx="24185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wrongly captured information</a:t>
            </a:r>
            <a:endParaRPr lang="en-US" sz="1150" dirty="0"/>
          </a:p>
        </p:txBody>
      </p:sp>
      <p:pic>
        <p:nvPicPr>
          <p:cNvPr id="17" name="Image 2" descr="/home/claude/sih_ppt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2208276"/>
            <a:ext cx="201168" cy="20116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934456" y="216255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9" name="Image 3" descr="/home/claude/sih_ppt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2226564"/>
            <a:ext cx="164592" cy="1645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08776" y="1691640"/>
            <a:ext cx="2528316" cy="1234440"/>
          </a:xfrm>
          <a:prstGeom prst="roundRect">
            <a:avLst>
              <a:gd name="adj" fmla="val 5926"/>
            </a:avLst>
          </a:prstGeom>
          <a:solidFill>
            <a:srgbClr val="0F6E6A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6263640" y="1746504"/>
            <a:ext cx="241858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263640" y="2370582"/>
            <a:ext cx="24185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the final patient-facing version</a:t>
            </a:r>
            <a:endParaRPr lang="en-US" sz="1150" dirty="0"/>
          </a:p>
        </p:txBody>
      </p:sp>
      <p:pic>
        <p:nvPicPr>
          <p:cNvPr id="23" name="Image 4" descr="/home/claude/sih_ppt/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4524" y="2208276"/>
            <a:ext cx="201168" cy="20116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718804" y="216255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5" name="Image 5" descr="/home/claude/sih_ppt/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2812" y="2226564"/>
            <a:ext cx="164592" cy="16459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8993124" y="1691640"/>
            <a:ext cx="2528316" cy="1234440"/>
          </a:xfrm>
          <a:prstGeom prst="roundRect">
            <a:avLst>
              <a:gd name="adj" fmla="val 5926"/>
            </a:avLst>
          </a:prstGeom>
          <a:solidFill>
            <a:srgbClr val="146F68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27" name="Text 19"/>
          <p:cNvSpPr txBox="1"/>
          <p:nvPr/>
        </p:nvSpPr>
        <p:spPr>
          <a:xfrm>
            <a:off x="9047988" y="1746504"/>
            <a:ext cx="241858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Output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9047988" y="2370582"/>
            <a:ext cx="24185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the physician consultation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640080" y="3383280"/>
            <a:ext cx="10881360" cy="2788920"/>
          </a:xfrm>
          <a:prstGeom prst="roundRect">
            <a:avLst>
              <a:gd name="adj" fmla="val 2623"/>
            </a:avLst>
          </a:prstGeom>
          <a:solidFill>
            <a:srgbClr val="E4F2EF"/>
          </a:solidFill>
          <a:ln/>
        </p:spPr>
      </p:sp>
      <p:sp>
        <p:nvSpPr>
          <p:cNvPr id="30" name="Shape 22"/>
          <p:cNvSpPr/>
          <p:nvPr/>
        </p:nvSpPr>
        <p:spPr>
          <a:xfrm>
            <a:off x="1165860" y="4247388"/>
            <a:ext cx="1051560" cy="1051560"/>
          </a:xfrm>
          <a:prstGeom prst="ellipse">
            <a:avLst/>
          </a:prstGeom>
          <a:solidFill>
            <a:srgbClr val="C97F1E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1" name="Image 6" descr="/home/claude/sih_ppt/icons/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8234" y="4499762"/>
            <a:ext cx="546811" cy="546811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2606040" y="36576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Control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2606040" y="4114800"/>
            <a:ext cx="8549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is a structured clinical-history draft — not a final diagnosis.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physician remains responsible for examination, clinical reasoning, diagnosis, treatment and prescription.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preserves the software's intended role as a case-taking assistant, not a diagnostic authority.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AI CONSULTATION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Sub-Module 2.3 — AI Consultation Guide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AI Consultation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303520" cy="992124"/>
          </a:xfrm>
          <a:prstGeom prst="roundRect">
            <a:avLst>
              <a:gd name="adj" fmla="val 6452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959102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0" name="Image 0" descr="/home/claude/sih_ppt/icons/message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68830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44752" y="1764792"/>
            <a:ext cx="4352544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slowly and clearly.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7920" y="1691640"/>
            <a:ext cx="5303520" cy="992124"/>
          </a:xfrm>
          <a:prstGeom prst="roundRect">
            <a:avLst>
              <a:gd name="adj" fmla="val 6452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1959102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4" name="Image 1" descr="/home/claude/sih_ppt/icons/e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06883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022592" y="1764792"/>
            <a:ext cx="4352544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problem in your own words.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2884932"/>
            <a:ext cx="5303520" cy="992124"/>
          </a:xfrm>
          <a:prstGeom prst="roundRect">
            <a:avLst>
              <a:gd name="adj" fmla="val 6452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3152394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8" name="Image 2" descr="/home/claude/sih_ppt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262122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44752" y="2958084"/>
            <a:ext cx="4352544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truthful and complete symptom information.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17920" y="2884932"/>
            <a:ext cx="5303520" cy="992124"/>
          </a:xfrm>
          <a:prstGeom prst="roundRect">
            <a:avLst>
              <a:gd name="adj" fmla="val 6452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0" y="3152394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2" name="Image 3" descr="/home/claude/sih_ppt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262122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22592" y="2958084"/>
            <a:ext cx="4352544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when the problem started and medicines already taken.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0080" y="4078224"/>
            <a:ext cx="5303520" cy="992124"/>
          </a:xfrm>
          <a:prstGeom prst="roundRect">
            <a:avLst>
              <a:gd name="adj" fmla="val 6452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22960" y="4345686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6" name="Image 4" descr="/home/claude/sih_ppt/icons/uplo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45541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44752" y="4151376"/>
            <a:ext cx="4352544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Upload Previous Report when an earlier document is available.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217920" y="4078224"/>
            <a:ext cx="5303520" cy="992124"/>
          </a:xfrm>
          <a:prstGeom prst="roundRect">
            <a:avLst>
              <a:gd name="adj" fmla="val 6452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400800" y="4345686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0" name="Image 5" descr="/home/claude/sih_ppt/icons/ey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455414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22592" y="4151376"/>
            <a:ext cx="4352544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generated report before confirming it.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640080" y="5271516"/>
            <a:ext cx="5303520" cy="992124"/>
          </a:xfrm>
          <a:prstGeom prst="roundRect">
            <a:avLst>
              <a:gd name="adj" fmla="val 6452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22960" y="5538978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4" name="Image 6" descr="/home/claude/sih_ppt/icons/glob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5648706"/>
            <a:ext cx="237744" cy="2377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444752" y="5344668"/>
            <a:ext cx="4352544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Hindi or English per your selected language preference.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AI CONSULTATION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AI Consultation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AI Consultation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1971446" cy="1051560"/>
          </a:xfrm>
          <a:prstGeom prst="roundRect">
            <a:avLst>
              <a:gd name="adj" fmla="val 6957"/>
            </a:avLst>
          </a:prstGeom>
          <a:solidFill>
            <a:srgbClr val="146F68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94944" y="1792224"/>
            <a:ext cx="186171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50" dirty="0"/>
          </a:p>
        </p:txBody>
      </p:sp>
      <p:pic>
        <p:nvPicPr>
          <p:cNvPr id="10" name="Image 0" descr="/home/claude/sih_ppt/icons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8958" y="2162556"/>
            <a:ext cx="201168" cy="2011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593238" y="211683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/home/claude/sih_ppt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246" y="2180844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867558" y="1737360"/>
            <a:ext cx="1971446" cy="1051560"/>
          </a:xfrm>
          <a:prstGeom prst="roundRect">
            <a:avLst>
              <a:gd name="adj" fmla="val 6957"/>
            </a:avLst>
          </a:prstGeom>
          <a:solidFill>
            <a:srgbClr val="0F6E6A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2922422" y="1792224"/>
            <a:ext cx="186171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150" dirty="0"/>
          </a:p>
        </p:txBody>
      </p:sp>
      <p:pic>
        <p:nvPicPr>
          <p:cNvPr id="15" name="Image 2" descr="/home/claude/sih_ppt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437" y="2162556"/>
            <a:ext cx="201168" cy="2011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820717" y="211683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3" descr="/home/claude/sih_ppt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725" y="2180844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95037" y="1737360"/>
            <a:ext cx="1971446" cy="1051560"/>
          </a:xfrm>
          <a:prstGeom prst="roundRect">
            <a:avLst>
              <a:gd name="adj" fmla="val 6957"/>
            </a:avLst>
          </a:prstGeom>
          <a:solidFill>
            <a:srgbClr val="146F68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5149901" y="1792224"/>
            <a:ext cx="186171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150" dirty="0"/>
          </a:p>
        </p:txBody>
      </p:sp>
      <p:pic>
        <p:nvPicPr>
          <p:cNvPr id="20" name="Image 4" descr="/home/claude/sih_ppt/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3915" y="2162556"/>
            <a:ext cx="201168" cy="20116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048195" y="211683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5" descr="/home/claude/sih_ppt/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2203" y="2180844"/>
            <a:ext cx="164592" cy="16459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322515" y="1737360"/>
            <a:ext cx="1971446" cy="1051560"/>
          </a:xfrm>
          <a:prstGeom prst="roundRect">
            <a:avLst>
              <a:gd name="adj" fmla="val 6957"/>
            </a:avLst>
          </a:prstGeom>
          <a:solidFill>
            <a:srgbClr val="0F6E6A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24" name="Text 16"/>
          <p:cNvSpPr txBox="1"/>
          <p:nvPr/>
        </p:nvSpPr>
        <p:spPr>
          <a:xfrm>
            <a:off x="7377379" y="1792224"/>
            <a:ext cx="186171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</a:t>
            </a:r>
            <a:endParaRPr lang="en-US" sz="1150" dirty="0"/>
          </a:p>
        </p:txBody>
      </p:sp>
      <p:pic>
        <p:nvPicPr>
          <p:cNvPr id="25" name="Image 6" descr="/home/claude/sih_ppt/icons/arrowr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1394" y="2162556"/>
            <a:ext cx="201168" cy="201168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9275674" y="211683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7" name="Image 7" descr="/home/claude/sih_ppt/icons/arrowr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9682" y="2180844"/>
            <a:ext cx="164592" cy="164592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549994" y="1737360"/>
            <a:ext cx="1971446" cy="1051560"/>
          </a:xfrm>
          <a:prstGeom prst="roundRect">
            <a:avLst>
              <a:gd name="adj" fmla="val 6957"/>
            </a:avLst>
          </a:prstGeom>
          <a:solidFill>
            <a:srgbClr val="146F68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29" name="Text 19"/>
          <p:cNvSpPr txBox="1"/>
          <p:nvPr/>
        </p:nvSpPr>
        <p:spPr>
          <a:xfrm>
            <a:off x="9604858" y="1792224"/>
            <a:ext cx="186171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50" dirty="0"/>
          </a:p>
        </p:txBody>
      </p:sp>
      <p:pic>
        <p:nvPicPr>
          <p:cNvPr id="30" name="Image 8" descr="/home/claude/sih_ppt/icons/arrowr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2788920" y="2926080"/>
            <a:ext cx="219456" cy="219456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640080" y="338328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F6E6A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32" name="Text 21"/>
          <p:cNvSpPr txBox="1"/>
          <p:nvPr/>
        </p:nvSpPr>
        <p:spPr>
          <a:xfrm>
            <a:off x="694944" y="3438144"/>
            <a:ext cx="14904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Upload</a:t>
            </a:r>
            <a:endParaRPr lang="en-US" sz="1100" dirty="0"/>
          </a:p>
        </p:txBody>
      </p:sp>
      <p:pic>
        <p:nvPicPr>
          <p:cNvPr id="33" name="Image 9" descr="/home/claude/sih_ppt/icons/arrowrigh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67712" y="3808476"/>
            <a:ext cx="201168" cy="201168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2221992" y="376275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5" name="Image 10" descr="/home/claude/sih_ppt/icons/arrowrigh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0" y="3826764"/>
            <a:ext cx="164592" cy="164592"/>
          </a:xfrm>
          <a:prstGeom prst="rect">
            <a:avLst/>
          </a:prstGeom>
        </p:spPr>
      </p:pic>
      <p:sp>
        <p:nvSpPr>
          <p:cNvPr id="36" name="Shape 23"/>
          <p:cNvSpPr/>
          <p:nvPr/>
        </p:nvSpPr>
        <p:spPr>
          <a:xfrm>
            <a:off x="2496312" y="338328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46F68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37" name="Text 24"/>
          <p:cNvSpPr txBox="1"/>
          <p:nvPr/>
        </p:nvSpPr>
        <p:spPr>
          <a:xfrm>
            <a:off x="2551176" y="3438144"/>
            <a:ext cx="14904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100" dirty="0"/>
          </a:p>
        </p:txBody>
      </p:sp>
      <p:pic>
        <p:nvPicPr>
          <p:cNvPr id="38" name="Image 11" descr="/home/claude/sih_ppt/icons/arrowrigh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3944" y="3808476"/>
            <a:ext cx="201168" cy="201168"/>
          </a:xfrm>
          <a:prstGeom prst="rect">
            <a:avLst/>
          </a:prstGeom>
        </p:spPr>
      </p:pic>
      <p:sp>
        <p:nvSpPr>
          <p:cNvPr id="39" name="Shape 25"/>
          <p:cNvSpPr/>
          <p:nvPr/>
        </p:nvSpPr>
        <p:spPr>
          <a:xfrm>
            <a:off x="4078224" y="376275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0" name="Image 12" descr="/home/claude/sih_ppt/icons/arrowrigh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42232" y="3826764"/>
            <a:ext cx="164592" cy="164592"/>
          </a:xfrm>
          <a:prstGeom prst="rect">
            <a:avLst/>
          </a:prstGeom>
        </p:spPr>
      </p:pic>
      <p:sp>
        <p:nvSpPr>
          <p:cNvPr id="41" name="Shape 26"/>
          <p:cNvSpPr/>
          <p:nvPr/>
        </p:nvSpPr>
        <p:spPr>
          <a:xfrm>
            <a:off x="4352544" y="338328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F6E6A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42" name="Text 27"/>
          <p:cNvSpPr txBox="1"/>
          <p:nvPr/>
        </p:nvSpPr>
        <p:spPr>
          <a:xfrm>
            <a:off x="4407408" y="3438144"/>
            <a:ext cx="14904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Patient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pic>
        <p:nvPicPr>
          <p:cNvPr id="43" name="Image 13" descr="/home/claude/sih_ppt/icons/arrowrigh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80176" y="3808476"/>
            <a:ext cx="201168" cy="201168"/>
          </a:xfrm>
          <a:prstGeom prst="rect">
            <a:avLst/>
          </a:prstGeom>
        </p:spPr>
      </p:pic>
      <p:sp>
        <p:nvSpPr>
          <p:cNvPr id="44" name="Shape 28"/>
          <p:cNvSpPr/>
          <p:nvPr/>
        </p:nvSpPr>
        <p:spPr>
          <a:xfrm>
            <a:off x="5934456" y="376275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5" name="Image 14" descr="/home/claude/sih_ppt/icons/arrowrigh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98464" y="3826764"/>
            <a:ext cx="164592" cy="164592"/>
          </a:xfrm>
          <a:prstGeom prst="rect">
            <a:avLst/>
          </a:prstGeom>
        </p:spPr>
      </p:pic>
      <p:sp>
        <p:nvSpPr>
          <p:cNvPr id="46" name="Shape 29"/>
          <p:cNvSpPr/>
          <p:nvPr/>
        </p:nvSpPr>
        <p:spPr>
          <a:xfrm>
            <a:off x="6208776" y="338328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46F68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47" name="Text 30"/>
          <p:cNvSpPr txBox="1"/>
          <p:nvPr/>
        </p:nvSpPr>
        <p:spPr>
          <a:xfrm>
            <a:off x="6263640" y="3438144"/>
            <a:ext cx="14904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100" dirty="0"/>
          </a:p>
        </p:txBody>
      </p:sp>
      <p:pic>
        <p:nvPicPr>
          <p:cNvPr id="48" name="Image 15" descr="/home/claude/sih_ppt/icons/arrowright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36408" y="3808476"/>
            <a:ext cx="201168" cy="201168"/>
          </a:xfrm>
          <a:prstGeom prst="rect">
            <a:avLst/>
          </a:prstGeom>
        </p:spPr>
      </p:pic>
      <p:sp>
        <p:nvSpPr>
          <p:cNvPr id="49" name="Shape 31"/>
          <p:cNvSpPr/>
          <p:nvPr/>
        </p:nvSpPr>
        <p:spPr>
          <a:xfrm>
            <a:off x="7790688" y="376275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0" name="Image 16" descr="/home/claude/sih_ppt/icons/arrowright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54696" y="3826764"/>
            <a:ext cx="164592" cy="164592"/>
          </a:xfrm>
          <a:prstGeom prst="rect">
            <a:avLst/>
          </a:prstGeom>
        </p:spPr>
      </p:pic>
      <p:sp>
        <p:nvSpPr>
          <p:cNvPr id="51" name="Shape 32"/>
          <p:cNvSpPr/>
          <p:nvPr/>
        </p:nvSpPr>
        <p:spPr>
          <a:xfrm>
            <a:off x="8065008" y="338328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F6E6A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52" name="Text 33"/>
          <p:cNvSpPr txBox="1"/>
          <p:nvPr/>
        </p:nvSpPr>
        <p:spPr>
          <a:xfrm>
            <a:off x="8119872" y="3438144"/>
            <a:ext cx="14904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 dirty="0"/>
          </a:p>
        </p:txBody>
      </p:sp>
      <p:pic>
        <p:nvPicPr>
          <p:cNvPr id="53" name="Image 17" descr="/home/claude/sih_ppt/icons/arrowrigh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92640" y="3808476"/>
            <a:ext cx="201168" cy="201168"/>
          </a:xfrm>
          <a:prstGeom prst="rect">
            <a:avLst/>
          </a:prstGeom>
        </p:spPr>
      </p:pic>
      <p:sp>
        <p:nvSpPr>
          <p:cNvPr id="54" name="Shape 34"/>
          <p:cNvSpPr/>
          <p:nvPr/>
        </p:nvSpPr>
        <p:spPr>
          <a:xfrm>
            <a:off x="9646920" y="376275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5" name="Image 18" descr="/home/claude/sih_ppt/icons/arrowright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10928" y="3826764"/>
            <a:ext cx="164592" cy="164592"/>
          </a:xfrm>
          <a:prstGeom prst="rect">
            <a:avLst/>
          </a:prstGeom>
        </p:spPr>
      </p:pic>
      <p:sp>
        <p:nvSpPr>
          <p:cNvPr id="56" name="Shape 35"/>
          <p:cNvSpPr/>
          <p:nvPr/>
        </p:nvSpPr>
        <p:spPr>
          <a:xfrm>
            <a:off x="9921240" y="338328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46F68"/>
          </a:solidFill>
          <a:ln/>
          <a:effectLst>
            <a:outerShdw sx="100000" sy="100000" kx="0" ky="0" algn="bl" rotWithShape="0" blurRad="63500" dist="12700" dir="5400000">
              <a:srgbClr val="1B1B1B">
                <a:alpha val="15000"/>
              </a:srgbClr>
            </a:outerShdw>
          </a:effectLst>
        </p:spPr>
      </p:sp>
      <p:sp>
        <p:nvSpPr>
          <p:cNvPr id="57" name="Text 36"/>
          <p:cNvSpPr txBox="1"/>
          <p:nvPr/>
        </p:nvSpPr>
        <p:spPr>
          <a:xfrm>
            <a:off x="9976104" y="3438144"/>
            <a:ext cx="14904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History</a:t>
            </a:r>
            <a:endParaRPr lang="en-US" sz="1100" dirty="0"/>
          </a:p>
        </p:txBody>
      </p:sp>
      <p:sp>
        <p:nvSpPr>
          <p:cNvPr id="58" name="Shape 37"/>
          <p:cNvSpPr/>
          <p:nvPr/>
        </p:nvSpPr>
        <p:spPr>
          <a:xfrm>
            <a:off x="640080" y="48006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0A4A47"/>
          </a:solidFill>
          <a:ln/>
        </p:spPr>
      </p:sp>
      <p:sp>
        <p:nvSpPr>
          <p:cNvPr id="59" name="Text 38"/>
          <p:cNvSpPr txBox="1"/>
          <p:nvPr/>
        </p:nvSpPr>
        <p:spPr>
          <a:xfrm>
            <a:off x="868680" y="48006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not scripted: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 adapt to the patient's own answers. The flow only ends the active conversation on Submit — the report is compiled afterward and always passes through Review, Edit and Confirm before becoming physician-ready.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4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Report History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and presents the patient's generated consultation reports and relevant stored medical records for later access.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0" y="2331720"/>
            <a:ext cx="2103120" cy="21031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8" name="Image 0" descr="/home/claude/sih_ppt/icons/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8749" y="2836469"/>
            <a:ext cx="1093622" cy="109362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006840" y="2194560"/>
            <a:ext cx="2377440" cy="2377440"/>
          </a:xfrm>
          <a:prstGeom prst="ellipse">
            <a:avLst/>
          </a:prstGeom>
          <a:ln w="25400">
            <a:solidFill>
              <a:srgbClr val="E8A33D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MY REPORT HISTORY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Report Actions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My Report History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3474720" cy="1339596"/>
          </a:xfrm>
          <a:prstGeom prst="roundRect">
            <a:avLst>
              <a:gd name="adj" fmla="val 4778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746504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0" name="Image 0" descr="/home/claude/sih_ppt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5623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71600" y="169164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86384" y="2276856"/>
            <a:ext cx="31821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stored report.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43400" y="1600200"/>
            <a:ext cx="3474720" cy="1339596"/>
          </a:xfrm>
          <a:prstGeom prst="roundRect">
            <a:avLst>
              <a:gd name="adj" fmla="val 4778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9704" y="1746504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5" name="Image 1" descr="/home/claude/sih_ppt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856232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074920" y="169164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489704" y="2276856"/>
            <a:ext cx="31821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content of a report.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46720" y="1600200"/>
            <a:ext cx="3474720" cy="1339596"/>
          </a:xfrm>
          <a:prstGeom prst="roundRect">
            <a:avLst>
              <a:gd name="adj" fmla="val 4778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93024" y="1746504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0" name="Image 2" descr="/home/claude/sih_ppt/icons/down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856232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778240" y="169164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193024" y="2276856"/>
            <a:ext cx="31821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report as PDF.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3140964"/>
            <a:ext cx="3474720" cy="1339596"/>
          </a:xfrm>
          <a:prstGeom prst="roundRect">
            <a:avLst>
              <a:gd name="adj" fmla="val 4778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86384" y="3287268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5" name="Image 3" descr="/home/claude/sih_ppt/icons/prin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396996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323240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86384" y="3817620"/>
            <a:ext cx="31821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report.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43400" y="3140964"/>
            <a:ext cx="3474720" cy="1339596"/>
          </a:xfrm>
          <a:prstGeom prst="roundRect">
            <a:avLst>
              <a:gd name="adj" fmla="val 4778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489704" y="3287268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0" name="Image 4" descr="/home/claude/sih_ppt/icons/sh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3396996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074920" y="323240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4489704" y="3817620"/>
            <a:ext cx="31821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the doctor / hospital.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8046720" y="3140964"/>
            <a:ext cx="3474720" cy="1339596"/>
          </a:xfrm>
          <a:prstGeom prst="roundRect">
            <a:avLst>
              <a:gd name="adj" fmla="val 4778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193024" y="3287268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5" name="Image 5" descr="/home/claude/sih_ppt/icons/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3396996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778240" y="323240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250" dirty="0"/>
          </a:p>
        </p:txBody>
      </p:sp>
      <p:sp>
        <p:nvSpPr>
          <p:cNvPr id="37" name="Text 29"/>
          <p:cNvSpPr txBox="1"/>
          <p:nvPr/>
        </p:nvSpPr>
        <p:spPr>
          <a:xfrm>
            <a:off x="8193024" y="3817620"/>
            <a:ext cx="31821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older records by date or type.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640080" y="470916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40080" y="470916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0F6E6A"/>
          </a:solidFill>
          <a:ln/>
        </p:spPr>
      </p:sp>
      <p:sp>
        <p:nvSpPr>
          <p:cNvPr id="40" name="Shape 32"/>
          <p:cNvSpPr/>
          <p:nvPr/>
        </p:nvSpPr>
        <p:spPr>
          <a:xfrm>
            <a:off x="640080" y="4965192"/>
            <a:ext cx="5349240" cy="201168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841248" y="47091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450" dirty="0"/>
          </a:p>
        </p:txBody>
      </p:sp>
      <p:sp>
        <p:nvSpPr>
          <p:cNvPr id="42" name="Text 34"/>
          <p:cNvSpPr txBox="1"/>
          <p:nvPr/>
        </p:nvSpPr>
        <p:spPr>
          <a:xfrm>
            <a:off x="841248" y="5312664"/>
            <a:ext cx="4965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filters: date and report name/type.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Patient-name filtering isn't needed — the user is already authenticated.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6172200" y="470916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6172200" y="470916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C97F1E"/>
          </a:solidFill>
          <a:ln/>
        </p:spPr>
      </p:sp>
      <p:sp>
        <p:nvSpPr>
          <p:cNvPr id="45" name="Shape 37"/>
          <p:cNvSpPr/>
          <p:nvPr/>
        </p:nvSpPr>
        <p:spPr>
          <a:xfrm>
            <a:off x="6172200" y="4965192"/>
            <a:ext cx="5349240" cy="201168"/>
          </a:xfrm>
          <a:prstGeom prst="rect">
            <a:avLst/>
          </a:prstGeom>
          <a:solidFill>
            <a:srgbClr val="C97F1E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6373368" y="47091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Integrity</a:t>
            </a:r>
            <a:endParaRPr lang="en-US" sz="1450" dirty="0"/>
          </a:p>
        </p:txBody>
      </p:sp>
      <p:sp>
        <p:nvSpPr>
          <p:cNvPr id="47" name="Text 39"/>
          <p:cNvSpPr txBox="1"/>
          <p:nvPr/>
        </p:nvSpPr>
        <p:spPr>
          <a:xfrm>
            <a:off x="6373368" y="5312664"/>
            <a:ext cx="4965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patient-facing delete for formal medical records.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record management belongs to the Hospital Admin Portal.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4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Center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timely patient-facing updates connected to hospital activity and patient care.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0" y="2331720"/>
            <a:ext cx="2103120" cy="21031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8" name="Image 0" descr="/home/claude/sih_ppt/icons/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8749" y="2836469"/>
            <a:ext cx="1093622" cy="109362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006840" y="2194560"/>
            <a:ext cx="2377440" cy="2377440"/>
          </a:xfrm>
          <a:prstGeom prst="ellipse">
            <a:avLst/>
          </a:prstGeom>
          <a:ln w="25400">
            <a:solidFill>
              <a:srgbClr val="E8A33D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NOTIFICATION CENTER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 Notification Categories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Notification Center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257800" cy="1828800"/>
          </a:xfrm>
          <a:prstGeom prst="roundRect">
            <a:avLst>
              <a:gd name="adj" fmla="val 3500"/>
            </a:avLst>
          </a:prstGeom>
          <a:solidFill>
            <a:srgbClr val="E4F2EF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975104"/>
            <a:ext cx="594360" cy="59436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0" name="Image 0" descr="/home/claude/sih_ppt/icons/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2117750"/>
            <a:ext cx="309067" cy="30906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08760" y="1920240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Notifications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86384" y="2642616"/>
            <a:ext cx="49651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Confirmation, timing changes and relevant updates.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63640" y="1828800"/>
            <a:ext cx="5257800" cy="1828800"/>
          </a:xfrm>
          <a:prstGeom prst="roundRect">
            <a:avLst>
              <a:gd name="adj" fmla="val 3500"/>
            </a:avLst>
          </a:prstGeom>
          <a:solidFill>
            <a:srgbClr val="E4F2EF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9944" y="1975104"/>
            <a:ext cx="594360" cy="59436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5" name="Image 1" descr="/home/claude/sih_ppt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590" y="2117750"/>
            <a:ext cx="309067" cy="30906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132320" y="1920240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Reminders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409944" y="2642616"/>
            <a:ext cx="49651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timing and dose reminders when available.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0080" y="4023360"/>
            <a:ext cx="5257800" cy="1828800"/>
          </a:xfrm>
          <a:prstGeom prst="roundRect">
            <a:avLst>
              <a:gd name="adj" fmla="val 3500"/>
            </a:avLst>
          </a:prstGeom>
          <a:solidFill>
            <a:srgbClr val="E4F2EF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6384" y="4169664"/>
            <a:ext cx="594360" cy="59436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0" name="Image 2" descr="/home/claude/sih_ppt/icons/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4312310"/>
            <a:ext cx="309067" cy="30906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508760" y="4114800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Notifications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786384" y="4837176"/>
            <a:ext cx="49651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when an AI or hospital/lab report is ready.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263640" y="4023360"/>
            <a:ext cx="5257800" cy="1828800"/>
          </a:xfrm>
          <a:prstGeom prst="roundRect">
            <a:avLst>
              <a:gd name="adj" fmla="val 3500"/>
            </a:avLst>
          </a:prstGeom>
          <a:solidFill>
            <a:srgbClr val="E4F2EF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09944" y="4169664"/>
            <a:ext cx="594360" cy="59436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5" name="Image 3" descr="/home/claude/sih_ppt/icons/hospit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590" y="4312310"/>
            <a:ext cx="309067" cy="30906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132320" y="4114800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Notifications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409944" y="4837176"/>
            <a:ext cx="49651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announcements and service updates.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4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Profile &amp; Settings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user's personal account and profile area — kept separate from the clinical case-taking flow.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0" y="2331720"/>
            <a:ext cx="2103120" cy="21031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8" name="Image 0" descr="/home/claude/sih_ppt/icon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8749" y="2836469"/>
            <a:ext cx="1093622" cy="109362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006840" y="2194560"/>
            <a:ext cx="2377440" cy="2377440"/>
          </a:xfrm>
          <a:prstGeom prst="ellipse">
            <a:avLst/>
          </a:prstGeom>
          <a:ln w="25400">
            <a:solidFill>
              <a:srgbClr val="E8A33D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MY PROFILE &amp; SETTINGS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 Areas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My Profile &amp; Settings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3474720" cy="2185416"/>
          </a:xfrm>
          <a:prstGeom prst="roundRect">
            <a:avLst>
              <a:gd name="adj" fmla="val 2929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837944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0" name="Image 0" descr="/home/claude/sih_ppt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4767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71600" y="178308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Information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86384" y="2368296"/>
            <a:ext cx="31821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stored user/patient profile details.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43400" y="1691640"/>
            <a:ext cx="3474720" cy="2185416"/>
          </a:xfrm>
          <a:prstGeom prst="roundRect">
            <a:avLst>
              <a:gd name="adj" fmla="val 2929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9704" y="1837944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5" name="Image 1" descr="/home/claude/sih_ppt/icons/e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947672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074920" y="178308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Profile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489704" y="2368296"/>
            <a:ext cx="31821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permitted profile information.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46720" y="1691640"/>
            <a:ext cx="3474720" cy="2185416"/>
          </a:xfrm>
          <a:prstGeom prst="roundRect">
            <a:avLst>
              <a:gd name="adj" fmla="val 2929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93024" y="1837944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0" name="Image 2" descr="/home/claude/sih_ppt/icons/us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947672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778240" y="178308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Photo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193024" y="2368296"/>
            <a:ext cx="31821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change the account image.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4078224"/>
            <a:ext cx="3474720" cy="2185416"/>
          </a:xfrm>
          <a:prstGeom prst="roundRect">
            <a:avLst>
              <a:gd name="adj" fmla="val 2929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86384" y="4224528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5" name="Image 3" descr="/home/claude/sih_ppt/icons/sett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34256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16966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Settings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86384" y="4754880"/>
            <a:ext cx="31821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account-level preferences.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43400" y="4078224"/>
            <a:ext cx="3474720" cy="2185416"/>
          </a:xfrm>
          <a:prstGeom prst="roundRect">
            <a:avLst>
              <a:gd name="adj" fmla="val 2929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489704" y="4224528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0" name="Image 4" descr="/home/claude/sih_ppt/icons/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334256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074920" y="416966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Permissions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4489704" y="4754880"/>
            <a:ext cx="31821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permissions &amp; consent settings.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8046720" y="4078224"/>
            <a:ext cx="3474720" cy="2185416"/>
          </a:xfrm>
          <a:prstGeom prst="roundRect">
            <a:avLst>
              <a:gd name="adj" fmla="val 2929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193024" y="4224528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5" name="Image 5" descr="/home/claude/sih_ppt/icons/be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4334256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778240" y="416966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Preferences</a:t>
            </a:r>
            <a:endParaRPr lang="en-US" sz="1250" dirty="0"/>
          </a:p>
        </p:txBody>
      </p:sp>
      <p:sp>
        <p:nvSpPr>
          <p:cNvPr id="37" name="Text 29"/>
          <p:cNvSpPr txBox="1"/>
          <p:nvPr/>
        </p:nvSpPr>
        <p:spPr>
          <a:xfrm>
            <a:off x="8193024" y="4754880"/>
            <a:ext cx="31821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available notification preferences.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4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Multi-Language Support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the software and the AI consultation experience operate fluently in the user's preferred language.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0" y="2331720"/>
            <a:ext cx="2103120" cy="21031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8" name="Image 0" descr="/home/claude/sih_ppt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8749" y="2836469"/>
            <a:ext cx="1093622" cy="109362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006840" y="2194560"/>
            <a:ext cx="2377440" cy="2377440"/>
          </a:xfrm>
          <a:prstGeom prst="ellipse">
            <a:avLst/>
          </a:prstGeom>
          <a:ln w="25400">
            <a:solidFill>
              <a:srgbClr val="E8A33D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MULTI-LANGUAGE SUPPORT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Sub-Modules &amp; Accessibility Intent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Multi-Language Support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0020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0F6E6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856232"/>
            <a:ext cx="5257800" cy="201168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16002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Sub-Modules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203704"/>
            <a:ext cx="487375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Selection.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Language Selection.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Translation.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Support.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Preference Save.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60020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C97F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1856232"/>
            <a:ext cx="5349240" cy="201168"/>
          </a:xfrm>
          <a:prstGeom prst="rect">
            <a:avLst/>
          </a:prstGeom>
          <a:solidFill>
            <a:srgbClr val="C97F1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73368" y="16002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Intent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2203704"/>
            <a:ext cx="49651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the wider accessibility design.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icons, readable controls, simple navigation.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guidance throughout the experience.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initial scope: Hindi and English.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usable for elderly &amp; first-time users.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4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&amp; Support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how to use the software and gives users a clear path to request help.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0" y="2331720"/>
            <a:ext cx="2103120" cy="21031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8" name="Image 0" descr="/home/claude/sih_ppt/icons/he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8749" y="2836469"/>
            <a:ext cx="1093622" cy="109362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006840" y="2194560"/>
            <a:ext cx="2377440" cy="2377440"/>
          </a:xfrm>
          <a:prstGeom prst="ellipse">
            <a:avLst/>
          </a:prstGeom>
          <a:ln w="25400">
            <a:solidFill>
              <a:srgbClr val="E8A33D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HELP &amp; SUPPORT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 Sub-Modules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Help &amp; Support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3474720" cy="2185416"/>
          </a:xfrm>
          <a:prstGeom prst="roundRect">
            <a:avLst>
              <a:gd name="adj" fmla="val 2929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837944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0" name="Image 0" descr="/home/claude/sih_ppt/icons/book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4767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71600" y="178308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86384" y="2368296"/>
            <a:ext cx="31821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the software and its main features.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43400" y="1691640"/>
            <a:ext cx="3474720" cy="2185416"/>
          </a:xfrm>
          <a:prstGeom prst="roundRect">
            <a:avLst>
              <a:gd name="adj" fmla="val 2929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9704" y="1837944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5" name="Image 1" descr="/home/claude/sih_ppt/icons/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947672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074920" y="178308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Support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489704" y="2368296"/>
            <a:ext cx="31821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/ software support contact route.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46720" y="1691640"/>
            <a:ext cx="3474720" cy="2185416"/>
          </a:xfrm>
          <a:prstGeom prst="roundRect">
            <a:avLst>
              <a:gd name="adj" fmla="val 2929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93024" y="1837944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0" name="Image 2" descr="/home/claude/sih_ppt/icons/hel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947672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778240" y="178308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193024" y="2368296"/>
            <a:ext cx="31821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 &amp; common answers.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4078224"/>
            <a:ext cx="3474720" cy="2185416"/>
          </a:xfrm>
          <a:prstGeom prst="roundRect">
            <a:avLst>
              <a:gd name="adj" fmla="val 2929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86384" y="4224528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5" name="Image 3" descr="/home/claude/sih_ppt/icons/thumbs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34256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16966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Suggestions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86384" y="4754880"/>
            <a:ext cx="31821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and improvement suggestions.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43400" y="4078224"/>
            <a:ext cx="3474720" cy="2185416"/>
          </a:xfrm>
          <a:prstGeom prst="roundRect">
            <a:avLst>
              <a:gd name="adj" fmla="val 2929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489704" y="4224528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0" name="Image 4" descr="/home/claude/sih_ppt/icons/alert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334256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074920" y="416966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 Issue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4489704" y="4754880"/>
            <a:ext cx="31821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software / service problems.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8046720" y="4078224"/>
            <a:ext cx="3474720" cy="2185416"/>
          </a:xfrm>
          <a:prstGeom prst="roundRect">
            <a:avLst>
              <a:gd name="adj" fmla="val 2929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193024" y="4224528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5" name="Image 5" descr="/home/claude/sih_ppt/icons/vide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4334256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778240" y="416966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/ Video Guide</a:t>
            </a:r>
            <a:endParaRPr lang="en-US" sz="1250" dirty="0"/>
          </a:p>
        </p:txBody>
      </p:sp>
      <p:sp>
        <p:nvSpPr>
          <p:cNvPr id="37" name="Text 29"/>
          <p:cNvSpPr txBox="1"/>
          <p:nvPr/>
        </p:nvSpPr>
        <p:spPr>
          <a:xfrm>
            <a:off x="8193024" y="4754880"/>
            <a:ext cx="31821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visual guidance for first-time &amp; elderly users.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4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Services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patient-facing service area — expands the system beyond AI case-taking while keeping hospital administration separate.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0" y="2331720"/>
            <a:ext cx="2103120" cy="21031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8" name="Image 0" descr="/home/claude/sih_ppt/icons/hospi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8749" y="2836469"/>
            <a:ext cx="1093622" cy="109362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006840" y="2194560"/>
            <a:ext cx="2377440" cy="2377440"/>
          </a:xfrm>
          <a:prstGeom prst="ellipse">
            <a:avLst/>
          </a:prstGeom>
          <a:ln w="25400">
            <a:solidFill>
              <a:srgbClr val="E8A33D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HOSPITAL SERVICES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Appointment Booking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Hospital Services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91640"/>
            <a:ext cx="6492240" cy="457200"/>
          </a:xfrm>
          <a:prstGeom prst="roundRect">
            <a:avLst>
              <a:gd name="adj" fmla="val 16000"/>
            </a:avLst>
          </a:prstGeom>
          <a:solidFill>
            <a:srgbClr val="0F6E6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947672"/>
            <a:ext cx="6492240" cy="201168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16916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Patients Can Do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295144"/>
            <a:ext cx="610819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doctor profiles, specialization, working days, availability/timings and slots.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 appointment directly.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booked appointment time and relevant status information.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Doctor-related information is presented clearly in Hindi and English.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169164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92540" y="2217420"/>
            <a:ext cx="1051560" cy="105156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5" name="Image 0" descr="/home/claude/sih_ppt/icons/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914" y="2469794"/>
            <a:ext cx="546811" cy="546811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543800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Flow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38404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doctors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availability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slot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booking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HOSPITAL SERVICES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Pharmacy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Hospital Services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257800" cy="1348740"/>
          </a:xfrm>
          <a:prstGeom prst="roundRect">
            <a:avLst>
              <a:gd name="adj" fmla="val 4746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837944"/>
            <a:ext cx="502920" cy="5029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0" name="Image 0" descr="/home/claude/sih_ppt/icons/pi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1958645"/>
            <a:ext cx="261518" cy="26151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1783080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Availability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86384" y="2414016"/>
            <a:ext cx="4965192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medicine availability and pharmacy service information.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691640"/>
            <a:ext cx="5257800" cy="1348740"/>
          </a:xfrm>
          <a:prstGeom prst="roundRect">
            <a:avLst>
              <a:gd name="adj" fmla="val 4746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9944" y="1837944"/>
            <a:ext cx="502920" cy="5029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5" name="Image 1" descr="/home/claude/sih_ppt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645" y="1958645"/>
            <a:ext cx="261518" cy="26151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040880" y="1783080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Purchase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6409944" y="2414016"/>
            <a:ext cx="4965192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eligible medicines for online purchase.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0080" y="3360420"/>
            <a:ext cx="5257800" cy="1348740"/>
          </a:xfrm>
          <a:prstGeom prst="roundRect">
            <a:avLst>
              <a:gd name="adj" fmla="val 4746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6384" y="3506724"/>
            <a:ext cx="502920" cy="5029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0" name="Image 2" descr="/home/claude/sih_ppt/icons/hospi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3627425"/>
            <a:ext cx="261518" cy="26151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17320" y="3451860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or Delivery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786384" y="4082796"/>
            <a:ext cx="4965192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hospital pickup or available delivery options.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63640" y="3360420"/>
            <a:ext cx="5257800" cy="1348740"/>
          </a:xfrm>
          <a:prstGeom prst="roundRect">
            <a:avLst>
              <a:gd name="adj" fmla="val 4746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09944" y="3506724"/>
            <a:ext cx="502920" cy="5029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5" name="Image 3" descr="/home/claude/sih_ppt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645" y="3627425"/>
            <a:ext cx="261518" cy="26151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040880" y="3451860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Info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6409944" y="4082796"/>
            <a:ext cx="4965192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pharmacy operating information.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40080" y="48920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0A4A47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68680" y="48920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note: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prescription-controlled workflow is handled according to hospital policy rather than bypassed by the interface.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HOSPITAL SERVICES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Test Booking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Hospital Services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865376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9" name="Image 0" descr="/home/claude/sih_ppt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75104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24128" y="1782166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4128" y="178216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207008" y="1691640"/>
            <a:ext cx="10314432" cy="804672"/>
          </a:xfrm>
          <a:prstGeom prst="roundRect">
            <a:avLst>
              <a:gd name="adj" fmla="val 6818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371600" y="1691640"/>
            <a:ext cx="9966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available diagnostic / lab tests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67512" y="2761488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5" name="Image 1" descr="/home/claude/sih_ppt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71216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024128" y="2678278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24128" y="26782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1207008" y="2587752"/>
            <a:ext cx="10314432" cy="804672"/>
          </a:xfrm>
          <a:prstGeom prst="roundRect">
            <a:avLst>
              <a:gd name="adj" fmla="val 6818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371600" y="2587752"/>
            <a:ext cx="9966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test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67512" y="3657600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1" name="Image 2" descr="/home/claude/sih_ppt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67328"/>
            <a:ext cx="237744" cy="23774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24128" y="3574390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024128" y="357439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1207008" y="3483864"/>
            <a:ext cx="10314432" cy="804672"/>
          </a:xfrm>
          <a:prstGeom prst="roundRect">
            <a:avLst>
              <a:gd name="adj" fmla="val 6818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1371600" y="3483864"/>
            <a:ext cx="9966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available date / time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67512" y="4553712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7" name="Image 3" descr="/home/claude/sih_ppt/icons/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63440"/>
            <a:ext cx="237744" cy="237744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024128" y="4470502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1024128" y="44705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1207008" y="4379976"/>
            <a:ext cx="10314432" cy="804672"/>
          </a:xfrm>
          <a:prstGeom prst="roundRect">
            <a:avLst>
              <a:gd name="adj" fmla="val 6818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371600" y="4379976"/>
            <a:ext cx="9966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preparation instructions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667512" y="5449824"/>
            <a:ext cx="457200" cy="457200"/>
          </a:xfrm>
          <a:prstGeom prst="ellipse">
            <a:avLst/>
          </a:prstGeom>
          <a:solidFill>
            <a:srgbClr val="C97F1E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3" name="Image 4" descr="/home/claude/sih_ppt/icons/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9552"/>
            <a:ext cx="237744" cy="237744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1024128" y="5366614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1024128" y="536661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1207008" y="5276088"/>
            <a:ext cx="10314432" cy="804672"/>
          </a:xfrm>
          <a:prstGeom prst="roundRect">
            <a:avLst>
              <a:gd name="adj" fmla="val 6818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1371600" y="5276088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resulting report once available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1371600" y="5678424"/>
            <a:ext cx="99669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through the hospital when ready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HOSPITAL SERVICES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Departments &amp; Doctor Directory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Hospital Services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9164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0F6E6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947672"/>
            <a:ext cx="5257800" cy="201168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1691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&amp; Services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295144"/>
            <a:ext cx="48737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services provided by the hospital so patients know what's available before visiting.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OPD services, emergency care, doctor consultation, laboratory diagnostics, surgery-related services, ICU, blood bank and other facilities.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69164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C97F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1947672"/>
            <a:ext cx="5349240" cy="201168"/>
          </a:xfrm>
          <a:prstGeom prst="rect">
            <a:avLst/>
          </a:prstGeom>
          <a:solidFill>
            <a:srgbClr val="C97F1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73368" y="16916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Directory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2295144"/>
            <a:ext cx="496519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/ list-based directory of doctors.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doctor name, specialization, working days and hospital timings.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users check whether a relevant doctor is expected to be available.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HOSPITAL SERVICES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Ambulance, Emergency &amp; Contact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Hospital Services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3413760" cy="2377440"/>
          </a:xfrm>
          <a:prstGeom prst="roundRect">
            <a:avLst>
              <a:gd name="adj" fmla="val 2692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837944"/>
            <a:ext cx="502920" cy="5029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0" name="Image 0" descr="/home/claude/sih_ppt/icons/ambu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1958645"/>
            <a:ext cx="261518" cy="26151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1783080"/>
            <a:ext cx="2526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Request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6384" y="2414016"/>
            <a:ext cx="312115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hospital's ambulance request/contact pathway.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73880" y="1691640"/>
            <a:ext cx="3413760" cy="2377440"/>
          </a:xfrm>
          <a:prstGeom prst="roundRect">
            <a:avLst>
              <a:gd name="adj" fmla="val 2692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20184" y="1837944"/>
            <a:ext cx="502920" cy="5029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5" name="Image 1" descr="/home/claude/sih_ppt/icons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885" y="1958645"/>
            <a:ext cx="261518" cy="26151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151120" y="1783080"/>
            <a:ext cx="2526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Care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520184" y="2414016"/>
            <a:ext cx="312115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as part of hospital services — not a duplicate booking module.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07680" y="1691640"/>
            <a:ext cx="3413760" cy="2377440"/>
          </a:xfrm>
          <a:prstGeom prst="roundRect">
            <a:avLst>
              <a:gd name="adj" fmla="val 2692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53984" y="1837944"/>
            <a:ext cx="502920" cy="5029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0" name="Image 2" descr="/home/claude/sih_ppt/icons/map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685" y="1958645"/>
            <a:ext cx="261518" cy="26151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884920" y="1783080"/>
            <a:ext cx="2526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Location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253984" y="2414016"/>
            <a:ext cx="312115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contact information and location details.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434340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B5533C"/>
          </a:solidFill>
          <a:ln/>
        </p:spPr>
      </p:sp>
      <p:sp>
        <p:nvSpPr>
          <p:cNvPr id="24" name="Shape 19"/>
          <p:cNvSpPr/>
          <p:nvPr/>
        </p:nvSpPr>
        <p:spPr>
          <a:xfrm>
            <a:off x="1188720" y="4754880"/>
            <a:ext cx="1005840" cy="10058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5" name="Image 3" descr="/home/claude/sih_ppt/icons/he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122" y="4996282"/>
            <a:ext cx="523037" cy="52303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606040" y="455371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Priority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2606040" y="4983480"/>
            <a:ext cx="8595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B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in an emergency should be directed toward immediate hospital / emergency assistance — not required to first complete an AI-generated case report.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4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Admin Portal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separate, authenticated administrative area for authorized hospital personnel to manage operational data.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0" y="2331720"/>
            <a:ext cx="2103120" cy="210312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8" name="Image 0" descr="/home/claude/sih_ppt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8749" y="2836469"/>
            <a:ext cx="1093622" cy="109362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006840" y="2194560"/>
            <a:ext cx="2377440" cy="2377440"/>
          </a:xfrm>
          <a:prstGeom prst="ellipse">
            <a:avLst/>
          </a:prstGeom>
          <a:ln w="25400">
            <a:solidFill>
              <a:srgbClr val="E8A33D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HOSPITAL ADMIN PORTAL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Access &amp; CRUD Responsibility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Hospital Admin Portal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0020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C97F1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856232"/>
            <a:ext cx="5257800" cy="201168"/>
          </a:xfrm>
          <a:prstGeom prst="rect">
            <a:avLst/>
          </a:prstGeom>
          <a:solidFill>
            <a:srgbClr val="C97F1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16002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Access Principle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203704"/>
            <a:ext cx="487375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access must be role-based and authenticated.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users must never receive administrative CRUD permissions.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actions should be auditable.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limited to authorized hospital personnel.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60020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0F6E6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1856232"/>
            <a:ext cx="5349240" cy="201168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73368" y="16002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Responsibility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2203704"/>
            <a:ext cx="49651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(Create, Read, Update, Delete) is an administrative capability, not a patient capability.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 clearly separates creation, viewing, updating and deletion actions.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 actions are protected with suitable authorization and confirmation.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HOSPITAL ADMIN PORTAL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 Administrative Areas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Hospital Admin Portal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2029968" cy="2354580"/>
          </a:xfrm>
          <a:prstGeom prst="roundRect">
            <a:avLst>
              <a:gd name="adj" fmla="val 3153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700784"/>
            <a:ext cx="384048" cy="384048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0" name="Image 0" descr="/home/claude/sih_ppt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556" y="1792956"/>
            <a:ext cx="199705" cy="1997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98448" y="164592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&amp; Authentication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86384" y="2157984"/>
            <a:ext cx="173736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authenticated entry to the portal.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852928" y="1554480"/>
            <a:ext cx="2029968" cy="2354580"/>
          </a:xfrm>
          <a:prstGeom prst="roundRect">
            <a:avLst>
              <a:gd name="adj" fmla="val 3153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99232" y="1700784"/>
            <a:ext cx="384048" cy="384048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5" name="Image 1" descr="/home/claude/sih_ppt/icons/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404" y="1792956"/>
            <a:ext cx="199705" cy="199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11296" y="164592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Management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2999232" y="2157984"/>
            <a:ext cx="173736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on patient records per hospital policy.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065776" y="1554480"/>
            <a:ext cx="2029968" cy="2354580"/>
          </a:xfrm>
          <a:prstGeom prst="roundRect">
            <a:avLst>
              <a:gd name="adj" fmla="val 3153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212080" y="1700784"/>
            <a:ext cx="384048" cy="384048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0" name="Image 2" descr="/home/claude/sih_ppt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252" y="1792956"/>
            <a:ext cx="199705" cy="199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724144" y="164592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Management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5212080" y="2157984"/>
            <a:ext cx="173736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profiles, specialization, schedules.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7278624" y="1554480"/>
            <a:ext cx="2029968" cy="2354580"/>
          </a:xfrm>
          <a:prstGeom prst="roundRect">
            <a:avLst>
              <a:gd name="adj" fmla="val 3153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24928" y="1700784"/>
            <a:ext cx="384048" cy="384048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5" name="Image 3" descr="/home/claude/sih_ppt/icons/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100" y="1792956"/>
            <a:ext cx="199705" cy="19970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936992" y="164592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Management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7424928" y="2157984"/>
            <a:ext cx="173736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approve, reschedule or cancel.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9491472" y="1554480"/>
            <a:ext cx="2029968" cy="2354580"/>
          </a:xfrm>
          <a:prstGeom prst="roundRect">
            <a:avLst>
              <a:gd name="adj" fmla="val 3153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637776" y="1700784"/>
            <a:ext cx="384048" cy="384048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0" name="Image 4" descr="/home/claude/sih_ppt/icons/pi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9948" y="1792956"/>
            <a:ext cx="199705" cy="19970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0149840" y="164592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9637776" y="2157984"/>
            <a:ext cx="173736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medicine inventory &amp; stock.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640080" y="4091940"/>
            <a:ext cx="2029968" cy="2354580"/>
          </a:xfrm>
          <a:prstGeom prst="roundRect">
            <a:avLst>
              <a:gd name="adj" fmla="val 3153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86384" y="4238244"/>
            <a:ext cx="384048" cy="384048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5" name="Image 5" descr="/home/claude/sih_ppt/icons/clipbo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556" y="4330416"/>
            <a:ext cx="199705" cy="19970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298448" y="418338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 Management</a:t>
            </a:r>
            <a:endParaRPr lang="en-US" sz="1050" dirty="0"/>
          </a:p>
        </p:txBody>
      </p:sp>
      <p:sp>
        <p:nvSpPr>
          <p:cNvPr id="37" name="Text 29"/>
          <p:cNvSpPr txBox="1"/>
          <p:nvPr/>
        </p:nvSpPr>
        <p:spPr>
          <a:xfrm>
            <a:off x="786384" y="4695444"/>
            <a:ext cx="173736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test offerings &amp; bookings.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2852928" y="4091940"/>
            <a:ext cx="2029968" cy="2354580"/>
          </a:xfrm>
          <a:prstGeom prst="roundRect">
            <a:avLst>
              <a:gd name="adj" fmla="val 3153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2999232" y="4238244"/>
            <a:ext cx="384048" cy="384048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40" name="Image 6" descr="/home/claude/sih_ppt/icons/hospit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1404" y="4330416"/>
            <a:ext cx="199705" cy="199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511296" y="418338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&amp; Services</a:t>
            </a:r>
            <a:endParaRPr lang="en-US" sz="1050" dirty="0"/>
          </a:p>
        </p:txBody>
      </p:sp>
      <p:sp>
        <p:nvSpPr>
          <p:cNvPr id="42" name="Text 33"/>
          <p:cNvSpPr txBox="1"/>
          <p:nvPr/>
        </p:nvSpPr>
        <p:spPr>
          <a:xfrm>
            <a:off x="2999232" y="4695444"/>
            <a:ext cx="173736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displayed departments.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5065776" y="4091940"/>
            <a:ext cx="2029968" cy="2354580"/>
          </a:xfrm>
          <a:prstGeom prst="roundRect">
            <a:avLst>
              <a:gd name="adj" fmla="val 3153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5212080" y="4238244"/>
            <a:ext cx="384048" cy="384048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45" name="Image 7" descr="/home/claude/sih_ppt/icons/ambulanc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4252" y="4330416"/>
            <a:ext cx="199705" cy="199705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724144" y="418338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/ Ambulance</a:t>
            </a:r>
            <a:endParaRPr lang="en-US" sz="1050" dirty="0"/>
          </a:p>
        </p:txBody>
      </p:sp>
      <p:sp>
        <p:nvSpPr>
          <p:cNvPr id="47" name="Text 37"/>
          <p:cNvSpPr txBox="1"/>
          <p:nvPr/>
        </p:nvSpPr>
        <p:spPr>
          <a:xfrm>
            <a:off x="5212080" y="4695444"/>
            <a:ext cx="173736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manage routed requests.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7278624" y="4091940"/>
            <a:ext cx="2029968" cy="2354580"/>
          </a:xfrm>
          <a:prstGeom prst="roundRect">
            <a:avLst>
              <a:gd name="adj" fmla="val 3153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7424928" y="4238244"/>
            <a:ext cx="384048" cy="384048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50" name="Image 8" descr="/home/claude/sih_ppt/icons/bel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7100" y="4330416"/>
            <a:ext cx="199705" cy="199705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7936992" y="418338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Announcements</a:t>
            </a:r>
            <a:endParaRPr lang="en-US" sz="1050" dirty="0"/>
          </a:p>
        </p:txBody>
      </p:sp>
      <p:sp>
        <p:nvSpPr>
          <p:cNvPr id="52" name="Text 41"/>
          <p:cNvSpPr txBox="1"/>
          <p:nvPr/>
        </p:nvSpPr>
        <p:spPr>
          <a:xfrm>
            <a:off x="7424928" y="4695444"/>
            <a:ext cx="173736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hospital-wide updates.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9491472" y="4091940"/>
            <a:ext cx="2029968" cy="2354580"/>
          </a:xfrm>
          <a:prstGeom prst="roundRect">
            <a:avLst>
              <a:gd name="adj" fmla="val 3153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9637776" y="4238244"/>
            <a:ext cx="384048" cy="384048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55" name="Image 9" descr="/home/claude/sih_ppt/icons/trendin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9948" y="4330416"/>
            <a:ext cx="199705" cy="199705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10149840" y="418338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Basic Analytics</a:t>
            </a:r>
            <a:endParaRPr lang="en-US" sz="1050" dirty="0"/>
          </a:p>
        </p:txBody>
      </p:sp>
      <p:sp>
        <p:nvSpPr>
          <p:cNvPr id="57" name="Text 45"/>
          <p:cNvSpPr txBox="1"/>
          <p:nvPr/>
        </p:nvSpPr>
        <p:spPr>
          <a:xfrm>
            <a:off x="9637776" y="4695444"/>
            <a:ext cx="173736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summaries for admins.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REQUIREMENTS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Homepage, Dashboard &amp; Accessibility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Requirements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0020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0F6E6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856232"/>
            <a:ext cx="5257800" cy="201168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16002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/ Dashboard Direction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203704"/>
            <a:ext cx="487375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dashboard opens after account access.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includes search bar, home navigation, language control and profile/avatar.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branding/visual identity may appear.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modules shown as large, clear, accessibility-oriented cards.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60020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C97F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1856232"/>
            <a:ext cx="5349240" cy="201168"/>
          </a:xfrm>
          <a:prstGeom prst="rect">
            <a:avLst/>
          </a:prstGeom>
          <a:solidFill>
            <a:srgbClr val="C97F1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73368" y="16002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2203704"/>
            <a:ext cx="49651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icons and clear labels.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navigation for elderly &amp; first-time users.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guidance where useful.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English support throughout.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unnecessary form complexity.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emergency pathways quick and visible.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REQUIREMENTS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Privacy, Consent &amp; Clinical Safety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Requirements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E4F2EF"/>
          </a:solidFill>
          <a:ln/>
        </p:spPr>
      </p:sp>
      <p:sp>
        <p:nvSpPr>
          <p:cNvPr id="9" name="Shape 7"/>
          <p:cNvSpPr/>
          <p:nvPr/>
        </p:nvSpPr>
        <p:spPr>
          <a:xfrm>
            <a:off x="1165860" y="2217420"/>
            <a:ext cx="868680" cy="86868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0" name="Image 0" descr="/home/claude/sih_ppt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343" y="2425903"/>
            <a:ext cx="451714" cy="45171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331720" y="181051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Consent &amp; ABDM Alignment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2331720" y="2212848"/>
            <a:ext cx="9006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Consent-first handling of sensitive health data, per the original SIH expectation.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alignment with the ABDM ecosystem.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health information can later integrate with hospital HIS/EMR and ABHA/FHIR workflows.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393192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0A4A47"/>
          </a:solidFill>
          <a:ln/>
        </p:spPr>
      </p:sp>
      <p:sp>
        <p:nvSpPr>
          <p:cNvPr id="14" name="Shape 11"/>
          <p:cNvSpPr/>
          <p:nvPr/>
        </p:nvSpPr>
        <p:spPr>
          <a:xfrm>
            <a:off x="1165860" y="4640580"/>
            <a:ext cx="868680" cy="86868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5" name="Image 1" descr="/home/claude/sih_ppt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343" y="4849063"/>
            <a:ext cx="451714" cy="45171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331720" y="41422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Safety Boundary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2331720" y="4553712"/>
            <a:ext cx="9006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may structure patient-provided information, identify missing history questions, digitize documents and prepare a summary. It must not present its output as a substitute for physician examination or final diagnosis.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SIH Requirement Alignment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Alignment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4937760"/>
        </p:xfrm>
        <a:graphic>
          <a:graphicData uri="http://schemas.openxmlformats.org/drawingml/2006/table">
            <a:tbl>
              <a:tblPr/>
              <a:tblGrid>
                <a:gridCol w="4937760"/>
                <a:gridCol w="5943600"/>
              </a:tblGrid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SIH 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Patient-facing independent history capture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Consultation and Voice Assistant.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voice + guided interaction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Assistant and accessibility-oriented UI.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clinical questioning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follow-up conversation flow.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document digitization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Report Upload + OCR/document intelligence.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Printed/handwritten multilingual OCR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document-processing requirement.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physician-ready summary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Patient Report and Report Summary.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Editable / verifiable report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Review, Edit and Confirm flow.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autonomous diagnosis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Explicitly enforced as a core design principle.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Hindi/English support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Multi-Language Support module.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HIS/ABHA integration direction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7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Preserved as an implementation/integration requirement.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Build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D3E7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Planning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485900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9" name="Image 0" descr="/home/claude/sih_ppt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95628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24128" y="1402690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4128" y="140269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207008" y="1481328"/>
            <a:ext cx="10314432" cy="466344"/>
          </a:xfrm>
          <a:prstGeom prst="roundRect">
            <a:avLst>
              <a:gd name="adj" fmla="val 11765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371600" y="1481328"/>
            <a:ext cx="9966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access, dashboard &amp; Patient Registration UI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7512" y="1984248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15" name="Image 1" descr="/home/claude/sih_ppt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93976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024128" y="1901038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24128" y="190103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1207008" y="1979676"/>
            <a:ext cx="10314432" cy="466344"/>
          </a:xfrm>
          <a:prstGeom prst="roundRect">
            <a:avLst>
              <a:gd name="adj" fmla="val 11765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371600" y="1979676"/>
            <a:ext cx="9966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Consultation UI and conversation flow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12" y="2482596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1" name="Image 2" descr="/home/claude/sih_ppt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92324"/>
            <a:ext cx="237744" cy="23774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24128" y="2399386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024128" y="239938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1207008" y="2478024"/>
            <a:ext cx="10314432" cy="466344"/>
          </a:xfrm>
          <a:prstGeom prst="roundRect">
            <a:avLst>
              <a:gd name="adj" fmla="val 11765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1371600" y="2478024"/>
            <a:ext cx="9966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Previous-report upload &amp; document-processing pipeline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67512" y="2980944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27" name="Image 3" descr="/home/claude/sih_ppt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90672"/>
            <a:ext cx="237744" cy="237744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024128" y="2897734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1024128" y="289773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1207008" y="2976372"/>
            <a:ext cx="10314432" cy="466344"/>
          </a:xfrm>
          <a:prstGeom prst="roundRect">
            <a:avLst>
              <a:gd name="adj" fmla="val 11765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371600" y="2976372"/>
            <a:ext cx="9966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Patient Report, review/edit/confirm &amp; PDF output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67512" y="3479292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3" name="Image 4" descr="/home/claude/sih_ppt/icons/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589020"/>
            <a:ext cx="237744" cy="237744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1024128" y="3396082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1024128" y="339608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1207008" y="3474720"/>
            <a:ext cx="10314432" cy="466344"/>
          </a:xfrm>
          <a:prstGeom prst="roundRect">
            <a:avLst>
              <a:gd name="adj" fmla="val 11765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1371600" y="3474720"/>
            <a:ext cx="9966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Report History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67512" y="3977640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39" name="Image 5" descr="/home/claude/sih_ppt/icons/check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087368"/>
            <a:ext cx="237744" cy="237744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1024128" y="3894430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1024128" y="389443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1207008" y="3973068"/>
            <a:ext cx="10314432" cy="466344"/>
          </a:xfrm>
          <a:prstGeom prst="roundRect">
            <a:avLst>
              <a:gd name="adj" fmla="val 11765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1371600" y="3973068"/>
            <a:ext cx="9966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Center, Profile &amp; Settings, Multi-Language Support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667512" y="4475988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45" name="Image 6" descr="/home/claude/sih_ppt/icons/check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585716"/>
            <a:ext cx="237744" cy="237744"/>
          </a:xfrm>
          <a:prstGeom prst="rect">
            <a:avLst/>
          </a:prstGeom>
        </p:spPr>
      </p:pic>
      <p:sp>
        <p:nvSpPr>
          <p:cNvPr id="46" name="Shape 37"/>
          <p:cNvSpPr/>
          <p:nvPr/>
        </p:nvSpPr>
        <p:spPr>
          <a:xfrm>
            <a:off x="1024128" y="4392778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1024128" y="43927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1207008" y="4471416"/>
            <a:ext cx="10314432" cy="466344"/>
          </a:xfrm>
          <a:prstGeom prst="roundRect">
            <a:avLst>
              <a:gd name="adj" fmla="val 11765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1371600" y="4471416"/>
            <a:ext cx="9966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&amp; Support</a:t>
            </a:r>
            <a:endParaRPr lang="en-US" sz="1100" dirty="0"/>
          </a:p>
        </p:txBody>
      </p:sp>
      <p:sp>
        <p:nvSpPr>
          <p:cNvPr id="50" name="Shape 41"/>
          <p:cNvSpPr/>
          <p:nvPr/>
        </p:nvSpPr>
        <p:spPr>
          <a:xfrm>
            <a:off x="667512" y="4974336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51" name="Image 7" descr="/home/claude/sih_ppt/icons/check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084064"/>
            <a:ext cx="237744" cy="237744"/>
          </a:xfrm>
          <a:prstGeom prst="rect">
            <a:avLst/>
          </a:prstGeom>
        </p:spPr>
      </p:pic>
      <p:sp>
        <p:nvSpPr>
          <p:cNvPr id="52" name="Shape 42"/>
          <p:cNvSpPr/>
          <p:nvPr/>
        </p:nvSpPr>
        <p:spPr>
          <a:xfrm>
            <a:off x="1024128" y="4891126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1024128" y="489112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4" name="Shape 44"/>
          <p:cNvSpPr/>
          <p:nvPr/>
        </p:nvSpPr>
        <p:spPr>
          <a:xfrm>
            <a:off x="1207008" y="4969764"/>
            <a:ext cx="10314432" cy="466344"/>
          </a:xfrm>
          <a:prstGeom prst="roundRect">
            <a:avLst>
              <a:gd name="adj" fmla="val 11765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1371600" y="4969764"/>
            <a:ext cx="9966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Patient-facing Hospital Services</a:t>
            </a:r>
            <a:endParaRPr lang="en-US" sz="1100" dirty="0"/>
          </a:p>
        </p:txBody>
      </p:sp>
      <p:sp>
        <p:nvSpPr>
          <p:cNvPr id="56" name="Shape 46"/>
          <p:cNvSpPr/>
          <p:nvPr/>
        </p:nvSpPr>
        <p:spPr>
          <a:xfrm>
            <a:off x="667512" y="5472684"/>
            <a:ext cx="457200" cy="457200"/>
          </a:xfrm>
          <a:prstGeom prst="ellipse">
            <a:avLst/>
          </a:prstGeom>
          <a:solidFill>
            <a:srgbClr val="0F6E6A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57" name="Image 8" descr="/home/claude/sih_ppt/icons/checkcirc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582412"/>
            <a:ext cx="237744" cy="237744"/>
          </a:xfrm>
          <a:prstGeom prst="rect">
            <a:avLst/>
          </a:prstGeom>
        </p:spPr>
      </p:pic>
      <p:sp>
        <p:nvSpPr>
          <p:cNvPr id="58" name="Shape 47"/>
          <p:cNvSpPr/>
          <p:nvPr/>
        </p:nvSpPr>
        <p:spPr>
          <a:xfrm>
            <a:off x="1024128" y="5389474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9" name="Text 48"/>
          <p:cNvSpPr txBox="1"/>
          <p:nvPr/>
        </p:nvSpPr>
        <p:spPr>
          <a:xfrm>
            <a:off x="1024128" y="538947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0" name="Shape 49"/>
          <p:cNvSpPr/>
          <p:nvPr/>
        </p:nvSpPr>
        <p:spPr>
          <a:xfrm>
            <a:off x="1207008" y="5468112"/>
            <a:ext cx="10314432" cy="466344"/>
          </a:xfrm>
          <a:prstGeom prst="roundRect">
            <a:avLst>
              <a:gd name="adj" fmla="val 11765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1371600" y="5468112"/>
            <a:ext cx="9966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authenticated Hospital Admin Portal</a:t>
            </a:r>
            <a:endParaRPr lang="en-US" sz="1100" dirty="0"/>
          </a:p>
        </p:txBody>
      </p:sp>
      <p:sp>
        <p:nvSpPr>
          <p:cNvPr id="62" name="Shape 51"/>
          <p:cNvSpPr/>
          <p:nvPr/>
        </p:nvSpPr>
        <p:spPr>
          <a:xfrm>
            <a:off x="667512" y="5971032"/>
            <a:ext cx="457200" cy="457200"/>
          </a:xfrm>
          <a:prstGeom prst="ellipse">
            <a:avLst/>
          </a:prstGeom>
          <a:solidFill>
            <a:srgbClr val="C97F1E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63" name="Image 9" descr="/home/claude/sih_ppt/icons/checkcirc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6080760"/>
            <a:ext cx="237744" cy="237744"/>
          </a:xfrm>
          <a:prstGeom prst="rect">
            <a:avLst/>
          </a:prstGeom>
        </p:spPr>
      </p:pic>
      <p:sp>
        <p:nvSpPr>
          <p:cNvPr id="64" name="Shape 52"/>
          <p:cNvSpPr/>
          <p:nvPr/>
        </p:nvSpPr>
        <p:spPr>
          <a:xfrm>
            <a:off x="1024128" y="5887822"/>
            <a:ext cx="237744" cy="237744"/>
          </a:xfrm>
          <a:prstGeom prst="ellipse">
            <a:avLst/>
          </a:prstGeom>
          <a:solidFill>
            <a:srgbClr val="E8A33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5" name="Text 53"/>
          <p:cNvSpPr txBox="1"/>
          <p:nvPr/>
        </p:nvSpPr>
        <p:spPr>
          <a:xfrm>
            <a:off x="1024128" y="588782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6" name="Shape 54"/>
          <p:cNvSpPr/>
          <p:nvPr/>
        </p:nvSpPr>
        <p:spPr>
          <a:xfrm>
            <a:off x="1207008" y="5966460"/>
            <a:ext cx="10314432" cy="466344"/>
          </a:xfrm>
          <a:prstGeom prst="roundRect">
            <a:avLst>
              <a:gd name="adj" fmla="val 11765"/>
            </a:avLst>
          </a:prstGeom>
          <a:solidFill>
            <a:srgbClr val="F4FAF9"/>
          </a:solidFill>
          <a:ln w="12700">
            <a:solidFill>
              <a:srgbClr val="D3E7E3"/>
            </a:solidFill>
            <a:prstDash val="solid"/>
          </a:ln>
        </p:spPr>
      </p:sp>
      <p:sp>
        <p:nvSpPr>
          <p:cNvPr id="67" name="Text 55"/>
          <p:cNvSpPr txBox="1"/>
          <p:nvPr/>
        </p:nvSpPr>
        <p:spPr>
          <a:xfrm>
            <a:off x="1371600" y="5966460"/>
            <a:ext cx="9966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Integrations, security hardening, testing &amp;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4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2286000"/>
            <a:ext cx="5486400" cy="548640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4" name="Shape 2"/>
          <p:cNvSpPr/>
          <p:nvPr/>
        </p:nvSpPr>
        <p:spPr>
          <a:xfrm>
            <a:off x="5618988" y="937260"/>
            <a:ext cx="960120" cy="96012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5" name="Image 0" descr="/home/claude/sih_ppt/icon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9417" y="1167689"/>
            <a:ext cx="499262" cy="4992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148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DEFINITION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5420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AI-assisted clinical intake platform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3246120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registers, converses naturally with a voice assistant, optionally supplies previous medical documents, and receives a structured patient-history report for physician use — with hospital services and admin CRUD kept clearly separate.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383280" y="4617720"/>
            <a:ext cx="5394960" cy="0"/>
          </a:xfrm>
          <a:prstGeom prst="line">
            <a:avLst/>
          </a:prstGeom>
          <a:noFill/>
          <a:ln w="12700">
            <a:solidFill>
              <a:srgbClr val="2E5F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011680" y="480060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Its value is not autonomous diagnosis — its value is faster, more complete and more structured clinical history acquisition before the physician consultation. ”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4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194560"/>
            <a:ext cx="5943600" cy="594360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120640" cy="5120640"/>
          </a:xfrm>
          <a:prstGeom prst="ellipse">
            <a:avLst/>
          </a:prstGeom>
          <a:solidFill>
            <a:srgbClr val="0D3B39"/>
          </a:solidFill>
          <a:ln/>
        </p:spPr>
      </p:sp>
      <p:sp>
        <p:nvSpPr>
          <p:cNvPr id="4" name="Shape 2"/>
          <p:cNvSpPr/>
          <p:nvPr/>
        </p:nvSpPr>
        <p:spPr>
          <a:xfrm>
            <a:off x="5458968" y="2103120"/>
            <a:ext cx="1280160" cy="128016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1B1B1B">
                <a:alpha val="18000"/>
              </a:srgbClr>
            </a:outerShdw>
          </a:effectLst>
        </p:spPr>
      </p:sp>
      <p:pic>
        <p:nvPicPr>
          <p:cNvPr id="5" name="Image 0" descr="/home/claude/sih_ppt/icons/thumbs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206" y="2410358"/>
            <a:ext cx="665683" cy="66568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794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 •  SIH Patient Case-Taking Software  •  Problem ID 26047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6547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Patient Case-Taking Software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2026-09-06T03:32:33Z</dcterms:created>
  <dcterms:modified xsi:type="dcterms:W3CDTF">2026-09-06T03:32:33Z</dcterms:modified>
</cp:coreProperties>
</file>